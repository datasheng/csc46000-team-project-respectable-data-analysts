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embeddedFontLst>
    <p:embeddedFont>
      <p:font typeface="Play"/>
      <p:regular r:id="rId29"/>
      <p:bold r:id="rId30"/>
    </p:embeddedFont>
    <p:embeddedFont>
      <p:font typeface="Roboto"/>
      <p:regular r:id="rId31"/>
      <p:bold r:id="rId32"/>
      <p:italic r:id="rId33"/>
      <p:boldItalic r:id="rId34"/>
    </p:embeddedFont>
    <p:embeddedFont>
      <p:font typeface="IBM Plex Mono SemiBold"/>
      <p:regular r:id="rId35"/>
      <p:bold r:id="rId36"/>
      <p:italic r:id="rId37"/>
      <p:boldItalic r:id="rId38"/>
    </p:embeddedFont>
    <p:embeddedFont>
      <p:font typeface="Merriweather"/>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sHwMrWc5Wz2/pofA5qdiDSVhr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6.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lay-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font" Target="fonts/Play-bold.fntdata"/><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35" Type="http://schemas.openxmlformats.org/officeDocument/2006/relationships/font" Target="fonts/IBMPlexMonoSemiBold-regular.fntdata"/><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37" Type="http://schemas.openxmlformats.org/officeDocument/2006/relationships/font" Target="fonts/IBMPlexMonoSemiBold-italic.fntdata"/><Relationship Id="rId14" Type="http://schemas.openxmlformats.org/officeDocument/2006/relationships/slide" Target="slides/slide10.xml"/><Relationship Id="rId36" Type="http://schemas.openxmlformats.org/officeDocument/2006/relationships/font" Target="fonts/IBMPlexMonoSemiBold-bold.fntdata"/><Relationship Id="rId17" Type="http://schemas.openxmlformats.org/officeDocument/2006/relationships/slide" Target="slides/slide13.xml"/><Relationship Id="rId39" Type="http://schemas.openxmlformats.org/officeDocument/2006/relationships/font" Target="fonts/Merriweather-regular.fntdata"/><Relationship Id="rId16" Type="http://schemas.openxmlformats.org/officeDocument/2006/relationships/slide" Target="slides/slide12.xml"/><Relationship Id="rId38" Type="http://schemas.openxmlformats.org/officeDocument/2006/relationships/font" Target="fonts/IBMPlexMonoSemiBold-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polygon.io"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fc104f747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6fc104f747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Looks like we pick one or the other</a:t>
            </a:r>
            <a:endParaRPr/>
          </a:p>
        </p:txBody>
      </p:sp>
      <p:sp>
        <p:nvSpPr>
          <p:cNvPr id="118" name="Google Shape;1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0721088cc_2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0721088cc_2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a0721088cc_2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fc104f747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6fc104f747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6fc5189105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6fc5189105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6fc5189105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6fc104f747_1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6fc104f747_1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6fc104f747_1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fc5189105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fc5189105_2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6fc5189105_2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fc5189105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6fc5189105_2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6fc5189105_2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6fc5189105_2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6fc5189105_2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6fc5189105_2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Index: table </a:t>
            </a:r>
            <a:r>
              <a:rPr lang="en-US"/>
              <a:t>stores the three market indices (S&amp;P 500, NASDAQ, and Dow Jones ) acts as the master reference for the entire db.useful in Tableau for filtering and comparing performance across indices.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Daily Price: Table contains the actual historical data we pull from the </a:t>
            </a:r>
            <a:r>
              <a:rPr lang="en-US" u="sng">
                <a:solidFill>
                  <a:schemeClr val="hlink"/>
                </a:solidFill>
                <a:hlinkClick r:id="rId2"/>
              </a:rPr>
              <a:t>polygon.io</a:t>
            </a:r>
            <a:r>
              <a:rPr lang="en-US"/>
              <a:t> api, storing each index’s daily open, high, close, and volume (used for our training data).</a:t>
            </a:r>
            <a:endParaRPr/>
          </a:p>
          <a:p>
            <a:pPr indent="0" lvl="0" marL="0" rtl="0" algn="l">
              <a:spcBef>
                <a:spcPts val="0"/>
              </a:spcBef>
              <a:spcAft>
                <a:spcPts val="0"/>
              </a:spcAft>
              <a:buNone/>
            </a:pPr>
            <a:r>
              <a:rPr lang="en-US"/>
              <a:t>		</a:t>
            </a:r>
            <a:r>
              <a:rPr lang="en-US"/>
              <a:t>Will</a:t>
            </a:r>
            <a:r>
              <a:rPr lang="en-US"/>
              <a:t> be used for the </a:t>
            </a:r>
            <a:r>
              <a:rPr lang="en-US"/>
              <a:t>performance</a:t>
            </a:r>
            <a:r>
              <a:rPr lang="en-US"/>
              <a:t> line in our tableau charts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Forecast Result: The models predictions will be stored here forecasting closing prices and diff between actual and predicted values. Can compare real vs predicted </a:t>
            </a:r>
            <a:r>
              <a:rPr lang="en-US"/>
              <a:t>performance</a:t>
            </a:r>
            <a:r>
              <a:rPr lang="en-US"/>
              <a:t> in Tableau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Model Metric: Each row is a summary of how well the model performed for a </a:t>
            </a:r>
            <a:r>
              <a:rPr lang="en-US"/>
              <a:t>given</a:t>
            </a:r>
            <a:r>
              <a:rPr lang="en-US"/>
              <a:t> metric, </a:t>
            </a:r>
            <a:r>
              <a:rPr lang="en-US"/>
              <a:t>storing</a:t>
            </a:r>
            <a:r>
              <a:rPr lang="en-US"/>
              <a:t> evaluation metrics like R^2, RMSE, MAE, and MAPE. Will be useful for powering KPI visualizations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Return Series: The table holds financial metrics calculated in Python like daily returns, percent changes, and the rolling 30 day volatility to help with our analysis. Also for volatility and risk comparison visuals in Tableau.</a:t>
            </a:r>
            <a:endParaRPr/>
          </a:p>
        </p:txBody>
      </p:sp>
      <p:sp>
        <p:nvSpPr>
          <p:cNvPr id="272" name="Google Shape;27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t>APPLICATION STACK</a:t>
            </a:r>
            <a:endParaRPr b="1" sz="1300"/>
          </a:p>
          <a:p>
            <a:pPr indent="-298450" lvl="0" marL="457200" rtl="0" algn="l">
              <a:lnSpc>
                <a:spcPct val="115000"/>
              </a:lnSpc>
              <a:spcBef>
                <a:spcPts val="1200"/>
              </a:spcBef>
              <a:spcAft>
                <a:spcPts val="0"/>
              </a:spcAft>
              <a:buClr>
                <a:schemeClr val="dk1"/>
              </a:buClr>
              <a:buSzPts val="1100"/>
              <a:buChar char="●"/>
            </a:pPr>
            <a:r>
              <a:rPr b="1" lang="en-US" sz="1100"/>
              <a:t>Data Source:</a:t>
            </a:r>
            <a:r>
              <a:rPr lang="en-US" sz="1100"/>
              <a:t> Polygon.io (live index data via API)</a:t>
            </a:r>
            <a:br>
              <a:rPr lang="en-US" sz="1100"/>
            </a:br>
            <a:endParaRPr sz="1100"/>
          </a:p>
          <a:p>
            <a:pPr indent="-298450" lvl="0" marL="457200" rtl="0" algn="l">
              <a:lnSpc>
                <a:spcPct val="115000"/>
              </a:lnSpc>
              <a:spcBef>
                <a:spcPts val="0"/>
              </a:spcBef>
              <a:spcAft>
                <a:spcPts val="0"/>
              </a:spcAft>
              <a:buClr>
                <a:schemeClr val="dk1"/>
              </a:buClr>
              <a:buSzPts val="1100"/>
              <a:buChar char="●"/>
            </a:pPr>
            <a:r>
              <a:rPr b="1" lang="en-US" sz="1100"/>
              <a:t>Processing:</a:t>
            </a:r>
            <a:r>
              <a:rPr lang="en-US" sz="1100"/>
              <a:t> Python</a:t>
            </a:r>
            <a:br>
              <a:rPr lang="en-US" sz="1100"/>
            </a:br>
            <a:endParaRPr sz="1100"/>
          </a:p>
          <a:p>
            <a:pPr indent="-298450" lvl="1" marL="914400" rtl="0" algn="l">
              <a:lnSpc>
                <a:spcPct val="115000"/>
              </a:lnSpc>
              <a:spcBef>
                <a:spcPts val="0"/>
              </a:spcBef>
              <a:spcAft>
                <a:spcPts val="0"/>
              </a:spcAft>
              <a:buClr>
                <a:schemeClr val="dk1"/>
              </a:buClr>
              <a:buSzPts val="1100"/>
              <a:buChar char="○"/>
            </a:pPr>
            <a:r>
              <a:rPr i="1" lang="en-US" sz="1100"/>
              <a:t>Pandas</a:t>
            </a:r>
            <a:r>
              <a:rPr lang="en-US" sz="1100"/>
              <a:t> – data cleaning &amp; wrangling</a:t>
            </a:r>
            <a:br>
              <a:rPr lang="en-US" sz="1100"/>
            </a:br>
            <a:endParaRPr sz="1100"/>
          </a:p>
          <a:p>
            <a:pPr indent="-298450" lvl="1" marL="914400" rtl="0" algn="l">
              <a:lnSpc>
                <a:spcPct val="115000"/>
              </a:lnSpc>
              <a:spcBef>
                <a:spcPts val="0"/>
              </a:spcBef>
              <a:spcAft>
                <a:spcPts val="0"/>
              </a:spcAft>
              <a:buClr>
                <a:schemeClr val="dk1"/>
              </a:buClr>
              <a:buSzPts val="1100"/>
              <a:buChar char="○"/>
            </a:pPr>
            <a:r>
              <a:rPr i="1" lang="en-US" sz="1100"/>
              <a:t>scikit-learn</a:t>
            </a:r>
            <a:r>
              <a:rPr lang="en-US" sz="1100"/>
              <a:t> – linear regression modeling</a:t>
            </a:r>
            <a:br>
              <a:rPr lang="en-US" sz="1100"/>
            </a:br>
            <a:endParaRPr sz="1100"/>
          </a:p>
          <a:p>
            <a:pPr indent="-298450" lvl="0" marL="457200" rtl="0" algn="l">
              <a:lnSpc>
                <a:spcPct val="115000"/>
              </a:lnSpc>
              <a:spcBef>
                <a:spcPts val="0"/>
              </a:spcBef>
              <a:spcAft>
                <a:spcPts val="0"/>
              </a:spcAft>
              <a:buClr>
                <a:schemeClr val="dk1"/>
              </a:buClr>
              <a:buSzPts val="1100"/>
              <a:buChar char="●"/>
            </a:pPr>
            <a:r>
              <a:rPr b="1" lang="en-US" sz="1100"/>
              <a:t>Storage:</a:t>
            </a:r>
            <a:r>
              <a:rPr lang="en-US" sz="1100"/>
              <a:t> PostgreSQL database</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Stores cleaned index price data</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Enables </a:t>
            </a:r>
            <a:r>
              <a:rPr b="1" lang="en-US" sz="1100"/>
              <a:t>live connection</a:t>
            </a:r>
            <a:r>
              <a:rPr lang="en-US" sz="1100"/>
              <a:t> to Tableau</a:t>
            </a:r>
            <a:br>
              <a:rPr lang="en-US" sz="1100"/>
            </a:br>
            <a:endParaRPr sz="1100"/>
          </a:p>
          <a:p>
            <a:pPr indent="-298450" lvl="0" marL="457200" rtl="0" algn="l">
              <a:lnSpc>
                <a:spcPct val="115000"/>
              </a:lnSpc>
              <a:spcBef>
                <a:spcPts val="0"/>
              </a:spcBef>
              <a:spcAft>
                <a:spcPts val="0"/>
              </a:spcAft>
              <a:buClr>
                <a:schemeClr val="dk1"/>
              </a:buClr>
              <a:buSzPts val="1100"/>
              <a:buChar char="●"/>
            </a:pPr>
            <a:r>
              <a:rPr b="1" lang="en-US" sz="1100"/>
              <a:t>Visualization:</a:t>
            </a:r>
            <a:r>
              <a:rPr lang="en-US" sz="1100"/>
              <a:t> Tableau (dashboards for forecast, returns, volatility)</a:t>
            </a:r>
            <a:endParaRPr/>
          </a:p>
        </p:txBody>
      </p:sp>
      <p:sp>
        <p:nvSpPr>
          <p:cNvPr id="316" name="Google Shape;3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sp>
        <p:nvSpPr>
          <p:cNvPr id="14" name="Google Shape;14;g3a0721088cc_2_4"/>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5" name="Google Shape;15;g3a0721088cc_2_4"/>
          <p:cNvSpPr txBox="1"/>
          <p:nvPr>
            <p:ph type="ctr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6" name="Google Shape;16;g3a0721088cc_2_4"/>
          <p:cNvSpPr txBox="1"/>
          <p:nvPr>
            <p:ph idx="1" type="subTitle"/>
          </p:nvPr>
        </p:nvSpPr>
        <p:spPr>
          <a:xfrm>
            <a:off x="415600" y="2504747"/>
            <a:ext cx="5656800" cy="984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p:txBody>
      </p:sp>
      <p:sp>
        <p:nvSpPr>
          <p:cNvPr id="17" name="Google Shape;17;g3a0721088cc_2_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8" name="Shape 18"/>
        <p:cNvGrpSpPr/>
        <p:nvPr/>
      </p:nvGrpSpPr>
      <p:grpSpPr>
        <a:xfrm>
          <a:off x="0" y="0"/>
          <a:ext cx="0" cy="0"/>
          <a:chOff x="0" y="0"/>
          <a:chExt cx="0" cy="0"/>
        </a:xfrm>
      </p:grpSpPr>
      <p:sp>
        <p:nvSpPr>
          <p:cNvPr id="19" name="Google Shape;19;g3a0721088cc_2_9"/>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0" name="Google Shape;20;g3a0721088cc_2_9"/>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1" name="Google Shape;21;g3a0721088cc_2_9"/>
          <p:cNvSpPr txBox="1"/>
          <p:nvPr>
            <p:ph type="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2" name="Google Shape;22;g3a0721088cc_2_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3a0721088cc_2_14"/>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g3a0721088cc_2_14"/>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6" name="Google Shape;26;g3a0721088cc_2_14"/>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7" name="Google Shape;27;g3a0721088cc_2_14"/>
          <p:cNvSpPr txBox="1"/>
          <p:nvPr>
            <p:ph type="title"/>
          </p:nvPr>
        </p:nvSpPr>
        <p:spPr>
          <a:xfrm>
            <a:off x="415633" y="667900"/>
            <a:ext cx="4941900" cy="3345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8" name="Google Shape;28;g3a0721088cc_2_14"/>
          <p:cNvSpPr txBox="1"/>
          <p:nvPr>
            <p:ph idx="1" type="body"/>
          </p:nvPr>
        </p:nvSpPr>
        <p:spPr>
          <a:xfrm>
            <a:off x="6192900" y="667900"/>
            <a:ext cx="5555100" cy="5464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9" name="Google Shape;29;g3a0721088cc_2_1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g3a0721088cc_2_21"/>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3a0721088cc_2_21"/>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3" name="Google Shape;33;g3a0721088cc_2_21"/>
          <p:cNvSpPr txBox="1"/>
          <p:nvPr>
            <p:ph idx="1" type="body"/>
          </p:nvPr>
        </p:nvSpPr>
        <p:spPr>
          <a:xfrm>
            <a:off x="4156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4" name="Google Shape;34;g3a0721088cc_2_21"/>
          <p:cNvSpPr txBox="1"/>
          <p:nvPr>
            <p:ph idx="2" type="body"/>
          </p:nvPr>
        </p:nvSpPr>
        <p:spPr>
          <a:xfrm>
            <a:off x="64432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5" name="Google Shape;35;g3a0721088cc_2_2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3a0721088cc_2_27"/>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a0721088cc_2_27"/>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9" name="Google Shape;39;g3a0721088cc_2_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g3a0721088cc_2_31"/>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a0721088cc_2_31"/>
          <p:cNvSpPr txBox="1"/>
          <p:nvPr>
            <p:ph type="title"/>
          </p:nvPr>
        </p:nvSpPr>
        <p:spPr>
          <a:xfrm>
            <a:off x="415633" y="667900"/>
            <a:ext cx="4170000" cy="2438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43" name="Google Shape;43;g3a0721088cc_2_31"/>
          <p:cNvSpPr txBox="1"/>
          <p:nvPr>
            <p:ph idx="1" type="body"/>
          </p:nvPr>
        </p:nvSpPr>
        <p:spPr>
          <a:xfrm>
            <a:off x="415600" y="3187533"/>
            <a:ext cx="4170000" cy="3063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44" name="Google Shape;44;g3a0721088cc_2_3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g3a0721088cc_2_36"/>
          <p:cNvSpPr txBox="1"/>
          <p:nvPr>
            <p:ph type="title"/>
          </p:nvPr>
        </p:nvSpPr>
        <p:spPr>
          <a:xfrm>
            <a:off x="415567" y="1064800"/>
            <a:ext cx="8330400" cy="4728300"/>
          </a:xfrm>
          <a:prstGeom prst="rect">
            <a:avLst/>
          </a:prstGeom>
        </p:spPr>
        <p:txBody>
          <a:bodyPr anchorCtr="0" anchor="ctr"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g3a0721088cc_2_3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g3a0721088cc_2_39"/>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 name="Google Shape;50;g3a0721088cc_2_39"/>
          <p:cNvSpPr txBox="1"/>
          <p:nvPr>
            <p:ph type="title"/>
          </p:nvPr>
        </p:nvSpPr>
        <p:spPr>
          <a:xfrm>
            <a:off x="415067" y="667900"/>
            <a:ext cx="4939200" cy="2732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51" name="Google Shape;51;g3a0721088cc_2_39"/>
          <p:cNvSpPr txBox="1"/>
          <p:nvPr>
            <p:ph idx="1" type="subTitle"/>
          </p:nvPr>
        </p:nvSpPr>
        <p:spPr>
          <a:xfrm>
            <a:off x="406400" y="3502300"/>
            <a:ext cx="4939200" cy="1235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p:txBody>
      </p:sp>
      <p:sp>
        <p:nvSpPr>
          <p:cNvPr id="52" name="Google Shape;52;g3a0721088cc_2_39"/>
          <p:cNvSpPr txBox="1"/>
          <p:nvPr>
            <p:ph idx="2" type="body"/>
          </p:nvPr>
        </p:nvSpPr>
        <p:spPr>
          <a:xfrm>
            <a:off x="6505367" y="667900"/>
            <a:ext cx="5271900" cy="5481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3" name="Google Shape;53;g3a0721088cc_2_3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g3a0721088cc_2_45"/>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 name="Google Shape;56;g3a0721088cc_2_45"/>
          <p:cNvSpPr txBox="1"/>
          <p:nvPr>
            <p:ph idx="1" type="body"/>
          </p:nvPr>
        </p:nvSpPr>
        <p:spPr>
          <a:xfrm>
            <a:off x="415600" y="6028533"/>
            <a:ext cx="10639200" cy="6141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57" name="Google Shape;57;g3a0721088cc_2_4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g3a0721088cc_2_49"/>
          <p:cNvSpPr txBox="1"/>
          <p:nvPr>
            <p:ph hasCustomPrompt="1" type="title"/>
          </p:nvPr>
        </p:nvSpPr>
        <p:spPr>
          <a:xfrm>
            <a:off x="415667" y="1108233"/>
            <a:ext cx="7113300" cy="16596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60" name="Google Shape;60;g3a0721088cc_2_49"/>
          <p:cNvSpPr txBox="1"/>
          <p:nvPr>
            <p:ph idx="1" type="body"/>
          </p:nvPr>
        </p:nvSpPr>
        <p:spPr>
          <a:xfrm>
            <a:off x="415600" y="2828567"/>
            <a:ext cx="7113300" cy="1256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61" name="Google Shape;61;g3a0721088cc_2_4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g3a0721088cc_2_5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64" name="Shape 64"/>
        <p:cNvGrpSpPr/>
        <p:nvPr/>
      </p:nvGrpSpPr>
      <p:grpSpPr>
        <a:xfrm>
          <a:off x="0" y="0"/>
          <a:ext cx="0" cy="0"/>
          <a:chOff x="0" y="0"/>
          <a:chExt cx="0" cy="0"/>
        </a:xfrm>
      </p:grpSpPr>
      <p:sp>
        <p:nvSpPr>
          <p:cNvPr id="65" name="Google Shape;65;g3a0721088cc_2_55"/>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g3a0721088cc_2_57"/>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68" name="Google Shape;68;g3a0721088cc_2_57"/>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g3a0721088cc_2_57"/>
          <p:cNvSpPr txBox="1"/>
          <p:nvPr>
            <p:ph idx="10" type="dt"/>
          </p:nvPr>
        </p:nvSpPr>
        <p:spPr>
          <a:xfrm>
            <a:off x="1024129" y="6470704"/>
            <a:ext cx="2154000" cy="274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g3a0721088cc_2_57"/>
          <p:cNvSpPr txBox="1"/>
          <p:nvPr>
            <p:ph idx="11" type="ftr"/>
          </p:nvPr>
        </p:nvSpPr>
        <p:spPr>
          <a:xfrm>
            <a:off x="4842932" y="6470704"/>
            <a:ext cx="5901600" cy="2742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g3a0721088cc_2_57"/>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r">
              <a:spcBef>
                <a:spcPts val="0"/>
              </a:spcBef>
              <a:spcAft>
                <a:spcPts val="0"/>
              </a:spcAft>
              <a:buClr>
                <a:srgbClr val="0C0C0C"/>
              </a:buClr>
              <a:buSzPts val="1000"/>
              <a:buFont typeface="Twentieth Century"/>
              <a:buNone/>
              <a:defRPr/>
            </a:lvl1pPr>
            <a:lvl2pPr indent="0" lvl="1" marL="0" algn="r">
              <a:spcBef>
                <a:spcPts val="0"/>
              </a:spcBef>
              <a:spcAft>
                <a:spcPts val="0"/>
              </a:spcAft>
              <a:buClr>
                <a:srgbClr val="0C0C0C"/>
              </a:buClr>
              <a:buSzPts val="1000"/>
              <a:buFont typeface="Twentieth Century"/>
              <a:buNone/>
              <a:defRPr/>
            </a:lvl2pPr>
            <a:lvl3pPr indent="0" lvl="2" marL="0" algn="r">
              <a:spcBef>
                <a:spcPts val="0"/>
              </a:spcBef>
              <a:spcAft>
                <a:spcPts val="0"/>
              </a:spcAft>
              <a:buClr>
                <a:srgbClr val="0C0C0C"/>
              </a:buClr>
              <a:buSzPts val="1000"/>
              <a:buFont typeface="Twentieth Century"/>
              <a:buNone/>
              <a:defRPr/>
            </a:lvl3pPr>
            <a:lvl4pPr indent="0" lvl="3" marL="0" algn="r">
              <a:spcBef>
                <a:spcPts val="0"/>
              </a:spcBef>
              <a:spcAft>
                <a:spcPts val="0"/>
              </a:spcAft>
              <a:buClr>
                <a:srgbClr val="0C0C0C"/>
              </a:buClr>
              <a:buSzPts val="1000"/>
              <a:buFont typeface="Twentieth Century"/>
              <a:buNone/>
              <a:defRPr/>
            </a:lvl4pPr>
            <a:lvl5pPr indent="0" lvl="4" marL="0" algn="r">
              <a:spcBef>
                <a:spcPts val="0"/>
              </a:spcBef>
              <a:spcAft>
                <a:spcPts val="0"/>
              </a:spcAft>
              <a:buClr>
                <a:srgbClr val="0C0C0C"/>
              </a:buClr>
              <a:buSzPts val="1000"/>
              <a:buFont typeface="Twentieth Century"/>
              <a:buNone/>
              <a:defRPr/>
            </a:lvl5pPr>
            <a:lvl6pPr indent="0" lvl="5" marL="0" algn="r">
              <a:spcBef>
                <a:spcPts val="0"/>
              </a:spcBef>
              <a:spcAft>
                <a:spcPts val="0"/>
              </a:spcAft>
              <a:buClr>
                <a:srgbClr val="0C0C0C"/>
              </a:buClr>
              <a:buSzPts val="1000"/>
              <a:buFont typeface="Twentieth Century"/>
              <a:buNone/>
              <a:defRPr/>
            </a:lvl6pPr>
            <a:lvl7pPr indent="0" lvl="6" marL="0" algn="r">
              <a:spcBef>
                <a:spcPts val="0"/>
              </a:spcBef>
              <a:spcAft>
                <a:spcPts val="0"/>
              </a:spcAft>
              <a:buClr>
                <a:srgbClr val="0C0C0C"/>
              </a:buClr>
              <a:buSzPts val="1000"/>
              <a:buFont typeface="Twentieth Century"/>
              <a:buNone/>
              <a:defRPr/>
            </a:lvl7pPr>
            <a:lvl8pPr indent="0" lvl="7" marL="0" algn="r">
              <a:spcBef>
                <a:spcPts val="0"/>
              </a:spcBef>
              <a:spcAft>
                <a:spcPts val="0"/>
              </a:spcAft>
              <a:buClr>
                <a:srgbClr val="0C0C0C"/>
              </a:buClr>
              <a:buSzPts val="1000"/>
              <a:buFont typeface="Twentieth Century"/>
              <a:buNone/>
              <a:defRPr/>
            </a:lvl8pPr>
            <a:lvl9pPr indent="0" lvl="8" marL="0" algn="r">
              <a:spcBef>
                <a:spcPts val="0"/>
              </a:spcBef>
              <a:spcAft>
                <a:spcPts val="0"/>
              </a:spcAft>
              <a:buClr>
                <a:srgbClr val="0C0C0C"/>
              </a:buClr>
              <a:buSzPts val="1000"/>
              <a:buFont typeface="Twentieth Century"/>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g3a0721088cc_2_63"/>
          <p:cNvSpPr txBox="1"/>
          <p:nvPr>
            <p:ph type="title"/>
          </p:nvPr>
        </p:nvSpPr>
        <p:spPr>
          <a:xfrm>
            <a:off x="1024128" y="471509"/>
            <a:ext cx="4389000" cy="173730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74" name="Google Shape;74;g3a0721088cc_2_63"/>
          <p:cNvSpPr txBox="1"/>
          <p:nvPr>
            <p:ph idx="1" type="body"/>
          </p:nvPr>
        </p:nvSpPr>
        <p:spPr>
          <a:xfrm>
            <a:off x="5715000" y="822960"/>
            <a:ext cx="5678400" cy="5184600"/>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75" name="Google Shape;75;g3a0721088cc_2_63"/>
          <p:cNvSpPr txBox="1"/>
          <p:nvPr>
            <p:ph idx="2" type="body"/>
          </p:nvPr>
        </p:nvSpPr>
        <p:spPr>
          <a:xfrm>
            <a:off x="1024128" y="2257506"/>
            <a:ext cx="4389000" cy="3762300"/>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6" name="Google Shape;76;g3a0721088cc_2_63"/>
          <p:cNvSpPr txBox="1"/>
          <p:nvPr>
            <p:ph idx="10" type="dt"/>
          </p:nvPr>
        </p:nvSpPr>
        <p:spPr>
          <a:xfrm>
            <a:off x="1024129" y="6470704"/>
            <a:ext cx="2154000" cy="274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g3a0721088cc_2_63"/>
          <p:cNvSpPr txBox="1"/>
          <p:nvPr>
            <p:ph idx="11" type="ftr"/>
          </p:nvPr>
        </p:nvSpPr>
        <p:spPr>
          <a:xfrm>
            <a:off x="4842932" y="6470704"/>
            <a:ext cx="5901600" cy="2742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g3a0721088cc_2_63"/>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r">
              <a:spcBef>
                <a:spcPts val="0"/>
              </a:spcBef>
              <a:spcAft>
                <a:spcPts val="0"/>
              </a:spcAft>
              <a:buClr>
                <a:srgbClr val="0C0C0C"/>
              </a:buClr>
              <a:buSzPts val="1000"/>
              <a:buFont typeface="Twentieth Century"/>
              <a:buNone/>
              <a:defRPr/>
            </a:lvl1pPr>
            <a:lvl2pPr indent="0" lvl="1" marL="0" algn="r">
              <a:spcBef>
                <a:spcPts val="0"/>
              </a:spcBef>
              <a:spcAft>
                <a:spcPts val="0"/>
              </a:spcAft>
              <a:buClr>
                <a:srgbClr val="0C0C0C"/>
              </a:buClr>
              <a:buSzPts val="1000"/>
              <a:buFont typeface="Twentieth Century"/>
              <a:buNone/>
              <a:defRPr/>
            </a:lvl2pPr>
            <a:lvl3pPr indent="0" lvl="2" marL="0" algn="r">
              <a:spcBef>
                <a:spcPts val="0"/>
              </a:spcBef>
              <a:spcAft>
                <a:spcPts val="0"/>
              </a:spcAft>
              <a:buClr>
                <a:srgbClr val="0C0C0C"/>
              </a:buClr>
              <a:buSzPts val="1000"/>
              <a:buFont typeface="Twentieth Century"/>
              <a:buNone/>
              <a:defRPr/>
            </a:lvl3pPr>
            <a:lvl4pPr indent="0" lvl="3" marL="0" algn="r">
              <a:spcBef>
                <a:spcPts val="0"/>
              </a:spcBef>
              <a:spcAft>
                <a:spcPts val="0"/>
              </a:spcAft>
              <a:buClr>
                <a:srgbClr val="0C0C0C"/>
              </a:buClr>
              <a:buSzPts val="1000"/>
              <a:buFont typeface="Twentieth Century"/>
              <a:buNone/>
              <a:defRPr/>
            </a:lvl4pPr>
            <a:lvl5pPr indent="0" lvl="4" marL="0" algn="r">
              <a:spcBef>
                <a:spcPts val="0"/>
              </a:spcBef>
              <a:spcAft>
                <a:spcPts val="0"/>
              </a:spcAft>
              <a:buClr>
                <a:srgbClr val="0C0C0C"/>
              </a:buClr>
              <a:buSzPts val="1000"/>
              <a:buFont typeface="Twentieth Century"/>
              <a:buNone/>
              <a:defRPr/>
            </a:lvl5pPr>
            <a:lvl6pPr indent="0" lvl="5" marL="0" algn="r">
              <a:spcBef>
                <a:spcPts val="0"/>
              </a:spcBef>
              <a:spcAft>
                <a:spcPts val="0"/>
              </a:spcAft>
              <a:buClr>
                <a:srgbClr val="0C0C0C"/>
              </a:buClr>
              <a:buSzPts val="1000"/>
              <a:buFont typeface="Twentieth Century"/>
              <a:buNone/>
              <a:defRPr/>
            </a:lvl6pPr>
            <a:lvl7pPr indent="0" lvl="6" marL="0" algn="r">
              <a:spcBef>
                <a:spcPts val="0"/>
              </a:spcBef>
              <a:spcAft>
                <a:spcPts val="0"/>
              </a:spcAft>
              <a:buClr>
                <a:srgbClr val="0C0C0C"/>
              </a:buClr>
              <a:buSzPts val="1000"/>
              <a:buFont typeface="Twentieth Century"/>
              <a:buNone/>
              <a:defRPr/>
            </a:lvl7pPr>
            <a:lvl8pPr indent="0" lvl="7" marL="0" algn="r">
              <a:spcBef>
                <a:spcPts val="0"/>
              </a:spcBef>
              <a:spcAft>
                <a:spcPts val="0"/>
              </a:spcAft>
              <a:buClr>
                <a:srgbClr val="0C0C0C"/>
              </a:buClr>
              <a:buSzPts val="1000"/>
              <a:buFont typeface="Twentieth Century"/>
              <a:buNone/>
              <a:defRPr/>
            </a:lvl8pPr>
            <a:lvl9pPr indent="0" lvl="8" marL="0" algn="r">
              <a:spcBef>
                <a:spcPts val="0"/>
              </a:spcBef>
              <a:spcAft>
                <a:spcPts val="0"/>
              </a:spcAft>
              <a:buClr>
                <a:srgbClr val="0C0C0C"/>
              </a:buClr>
              <a:buSzPts val="1000"/>
              <a:buFont typeface="Twentieth Century"/>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g3a0721088cc_2_7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g3a0721088cc_2_70"/>
          <p:cNvSpPr/>
          <p:nvPr>
            <p:ph idx="2" type="pic"/>
          </p:nvPr>
        </p:nvSpPr>
        <p:spPr>
          <a:xfrm>
            <a:off x="5183188" y="987425"/>
            <a:ext cx="6172200" cy="4873500"/>
          </a:xfrm>
          <a:prstGeom prst="rect">
            <a:avLst/>
          </a:prstGeom>
          <a:noFill/>
          <a:ln>
            <a:noFill/>
          </a:ln>
        </p:spPr>
      </p:sp>
      <p:sp>
        <p:nvSpPr>
          <p:cNvPr id="82" name="Google Shape;82;g3a0721088cc_2_7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g3a0721088cc_2_7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C0C0C"/>
              </a:buClr>
              <a:buSzPts val="1400"/>
              <a:buFont typeface="Twentieth Century"/>
              <a:buNone/>
              <a:defRPr/>
            </a:lvl1pPr>
            <a:lvl2pPr lvl="1" algn="l">
              <a:spcBef>
                <a:spcPts val="0"/>
              </a:spcBef>
              <a:spcAft>
                <a:spcPts val="0"/>
              </a:spcAft>
              <a:buClr>
                <a:schemeClr val="dk1"/>
              </a:buClr>
              <a:buSzPts val="1400"/>
              <a:buFont typeface="Twentieth Century"/>
              <a:buNone/>
              <a:defRPr/>
            </a:lvl2pPr>
            <a:lvl3pPr lvl="2" algn="l">
              <a:spcBef>
                <a:spcPts val="0"/>
              </a:spcBef>
              <a:spcAft>
                <a:spcPts val="0"/>
              </a:spcAft>
              <a:buClr>
                <a:schemeClr val="dk1"/>
              </a:buClr>
              <a:buSzPts val="1400"/>
              <a:buFont typeface="Twentieth Century"/>
              <a:buNone/>
              <a:defRPr/>
            </a:lvl3pPr>
            <a:lvl4pPr lvl="3" algn="l">
              <a:spcBef>
                <a:spcPts val="0"/>
              </a:spcBef>
              <a:spcAft>
                <a:spcPts val="0"/>
              </a:spcAft>
              <a:buClr>
                <a:schemeClr val="dk1"/>
              </a:buClr>
              <a:buSzPts val="1400"/>
              <a:buFont typeface="Twentieth Century"/>
              <a:buNone/>
              <a:defRPr/>
            </a:lvl4pPr>
            <a:lvl5pPr lvl="4" algn="l">
              <a:spcBef>
                <a:spcPts val="0"/>
              </a:spcBef>
              <a:spcAft>
                <a:spcPts val="0"/>
              </a:spcAft>
              <a:buClr>
                <a:schemeClr val="dk1"/>
              </a:buClr>
              <a:buSzPts val="1400"/>
              <a:buFont typeface="Twentieth Century"/>
              <a:buNone/>
              <a:defRPr/>
            </a:lvl5pPr>
            <a:lvl6pPr lvl="5" algn="l">
              <a:spcBef>
                <a:spcPts val="0"/>
              </a:spcBef>
              <a:spcAft>
                <a:spcPts val="0"/>
              </a:spcAft>
              <a:buClr>
                <a:schemeClr val="dk1"/>
              </a:buClr>
              <a:buSzPts val="1400"/>
              <a:buFont typeface="Twentieth Century"/>
              <a:buNone/>
              <a:defRPr/>
            </a:lvl6pPr>
            <a:lvl7pPr lvl="6" algn="l">
              <a:spcBef>
                <a:spcPts val="0"/>
              </a:spcBef>
              <a:spcAft>
                <a:spcPts val="0"/>
              </a:spcAft>
              <a:buClr>
                <a:schemeClr val="dk1"/>
              </a:buClr>
              <a:buSzPts val="1400"/>
              <a:buFont typeface="Twentieth Century"/>
              <a:buNone/>
              <a:defRPr/>
            </a:lvl7pPr>
            <a:lvl8pPr lvl="7" algn="l">
              <a:spcBef>
                <a:spcPts val="0"/>
              </a:spcBef>
              <a:spcAft>
                <a:spcPts val="0"/>
              </a:spcAft>
              <a:buClr>
                <a:schemeClr val="dk1"/>
              </a:buClr>
              <a:buSzPts val="1400"/>
              <a:buFont typeface="Twentieth Century"/>
              <a:buNone/>
              <a:defRPr/>
            </a:lvl8pPr>
            <a:lvl9pPr lvl="8" algn="l">
              <a:spcBef>
                <a:spcPts val="0"/>
              </a:spcBef>
              <a:spcAft>
                <a:spcPts val="0"/>
              </a:spcAft>
              <a:buClr>
                <a:schemeClr val="dk1"/>
              </a:buClr>
              <a:buSzPts val="1400"/>
              <a:buFont typeface="Twentieth Century"/>
              <a:buNone/>
              <a:defRPr/>
            </a:lvl9pPr>
          </a:lstStyle>
          <a:p/>
        </p:txBody>
      </p:sp>
      <p:sp>
        <p:nvSpPr>
          <p:cNvPr id="84" name="Google Shape;84;g3a0721088cc_2_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0C0C0C"/>
              </a:buClr>
              <a:buSzPts val="1400"/>
              <a:buFont typeface="Twentieth Century"/>
              <a:buNone/>
              <a:defRPr/>
            </a:lvl1pPr>
            <a:lvl2pPr lvl="1" algn="l">
              <a:spcBef>
                <a:spcPts val="0"/>
              </a:spcBef>
              <a:spcAft>
                <a:spcPts val="0"/>
              </a:spcAft>
              <a:buClr>
                <a:schemeClr val="dk1"/>
              </a:buClr>
              <a:buSzPts val="1400"/>
              <a:buFont typeface="Twentieth Century"/>
              <a:buNone/>
              <a:defRPr/>
            </a:lvl2pPr>
            <a:lvl3pPr lvl="2" algn="l">
              <a:spcBef>
                <a:spcPts val="0"/>
              </a:spcBef>
              <a:spcAft>
                <a:spcPts val="0"/>
              </a:spcAft>
              <a:buClr>
                <a:schemeClr val="dk1"/>
              </a:buClr>
              <a:buSzPts val="1400"/>
              <a:buFont typeface="Twentieth Century"/>
              <a:buNone/>
              <a:defRPr/>
            </a:lvl3pPr>
            <a:lvl4pPr lvl="3" algn="l">
              <a:spcBef>
                <a:spcPts val="0"/>
              </a:spcBef>
              <a:spcAft>
                <a:spcPts val="0"/>
              </a:spcAft>
              <a:buClr>
                <a:schemeClr val="dk1"/>
              </a:buClr>
              <a:buSzPts val="1400"/>
              <a:buFont typeface="Twentieth Century"/>
              <a:buNone/>
              <a:defRPr/>
            </a:lvl4pPr>
            <a:lvl5pPr lvl="4" algn="l">
              <a:spcBef>
                <a:spcPts val="0"/>
              </a:spcBef>
              <a:spcAft>
                <a:spcPts val="0"/>
              </a:spcAft>
              <a:buClr>
                <a:schemeClr val="dk1"/>
              </a:buClr>
              <a:buSzPts val="1400"/>
              <a:buFont typeface="Twentieth Century"/>
              <a:buNone/>
              <a:defRPr/>
            </a:lvl5pPr>
            <a:lvl6pPr lvl="5" algn="l">
              <a:spcBef>
                <a:spcPts val="0"/>
              </a:spcBef>
              <a:spcAft>
                <a:spcPts val="0"/>
              </a:spcAft>
              <a:buClr>
                <a:schemeClr val="dk1"/>
              </a:buClr>
              <a:buSzPts val="1400"/>
              <a:buFont typeface="Twentieth Century"/>
              <a:buNone/>
              <a:defRPr/>
            </a:lvl6pPr>
            <a:lvl7pPr lvl="6" algn="l">
              <a:spcBef>
                <a:spcPts val="0"/>
              </a:spcBef>
              <a:spcAft>
                <a:spcPts val="0"/>
              </a:spcAft>
              <a:buClr>
                <a:schemeClr val="dk1"/>
              </a:buClr>
              <a:buSzPts val="1400"/>
              <a:buFont typeface="Twentieth Century"/>
              <a:buNone/>
              <a:defRPr/>
            </a:lvl7pPr>
            <a:lvl8pPr lvl="7" algn="l">
              <a:spcBef>
                <a:spcPts val="0"/>
              </a:spcBef>
              <a:spcAft>
                <a:spcPts val="0"/>
              </a:spcAft>
              <a:buClr>
                <a:schemeClr val="dk1"/>
              </a:buClr>
              <a:buSzPts val="1400"/>
              <a:buFont typeface="Twentieth Century"/>
              <a:buNone/>
              <a:defRPr/>
            </a:lvl8pPr>
            <a:lvl9pPr lvl="8" algn="l">
              <a:spcBef>
                <a:spcPts val="0"/>
              </a:spcBef>
              <a:spcAft>
                <a:spcPts val="0"/>
              </a:spcAft>
              <a:buClr>
                <a:schemeClr val="dk1"/>
              </a:buClr>
              <a:buSzPts val="1400"/>
              <a:buFont typeface="Twentieth Century"/>
              <a:buNone/>
              <a:defRPr/>
            </a:lvl9pPr>
          </a:lstStyle>
          <a:p/>
        </p:txBody>
      </p:sp>
      <p:sp>
        <p:nvSpPr>
          <p:cNvPr id="85" name="Google Shape;85;g3a0721088cc_2_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1pPr>
            <a:lvl2pPr indent="0" lvl="1"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2pPr>
            <a:lvl3pPr indent="0" lvl="2"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3pPr>
            <a:lvl4pPr indent="0" lvl="3"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4pPr>
            <a:lvl5pPr indent="0" lvl="4"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5pPr>
            <a:lvl6pPr indent="0" lvl="5"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6pPr>
            <a:lvl7pPr indent="0" lvl="6"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7pPr>
            <a:lvl8pPr indent="0" lvl="7"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8pPr>
            <a:lvl9pPr indent="0" lvl="8"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 name="Shape 9"/>
        <p:cNvGrpSpPr/>
        <p:nvPr/>
      </p:nvGrpSpPr>
      <p:grpSpPr>
        <a:xfrm>
          <a:off x="0" y="0"/>
          <a:ext cx="0" cy="0"/>
          <a:chOff x="0" y="0"/>
          <a:chExt cx="0" cy="0"/>
        </a:xfrm>
      </p:grpSpPr>
      <p:sp>
        <p:nvSpPr>
          <p:cNvPr id="10" name="Google Shape;10;g3a0721088cc_2_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p:txBody>
      </p:sp>
      <p:sp>
        <p:nvSpPr>
          <p:cNvPr id="11" name="Google Shape;11;g3a0721088cc_2_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indent="-323850" lvl="1" marL="914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indent="-323850" lvl="2" marL="1371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indent="-323850" lvl="3" marL="1828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indent="-323850" lvl="4" marL="22860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indent="-323850" lvl="5" marL="27432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indent="-323850" lvl="6" marL="3200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indent="-323850" lvl="7" marL="3657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indent="-323850" lvl="8" marL="4114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p:txBody>
      </p:sp>
      <p:sp>
        <p:nvSpPr>
          <p:cNvPr id="12" name="Google Shape;12;g3a0721088cc_2_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polygon.io" TargetMode="Externa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polygon.i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polygon.i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92" name="Google Shape;92;p1"/>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93" name="Google Shape;93;p1"/>
          <p:cNvSpPr/>
          <p:nvPr/>
        </p:nvSpPr>
        <p:spPr>
          <a:xfrm>
            <a:off x="2815929" y="148929"/>
            <a:ext cx="6560142" cy="656014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94" name="Google Shape;94;p1"/>
          <p:cNvSpPr txBox="1"/>
          <p:nvPr>
            <p:ph type="ctrTitle"/>
          </p:nvPr>
        </p:nvSpPr>
        <p:spPr>
          <a:xfrm>
            <a:off x="3315031" y="1380754"/>
            <a:ext cx="5561938" cy="251351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Investment Simulation &amp; Forecasting</a:t>
            </a:r>
            <a:endParaRPr/>
          </a:p>
        </p:txBody>
      </p:sp>
      <p:sp>
        <p:nvSpPr>
          <p:cNvPr id="95" name="Google Shape;95;p1"/>
          <p:cNvSpPr txBox="1"/>
          <p:nvPr>
            <p:ph idx="1" type="subTitle"/>
          </p:nvPr>
        </p:nvSpPr>
        <p:spPr>
          <a:xfrm>
            <a:off x="3315031" y="4076802"/>
            <a:ext cx="5561938" cy="153458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Presented by </a:t>
            </a:r>
            <a:r>
              <a:rPr lang="en-US"/>
              <a:t>Alex Abraham, Amir Nabiyev, Azim Rahat, Md Mamun, Wen Jie Long</a:t>
            </a:r>
            <a:endParaRPr/>
          </a:p>
          <a:p>
            <a:pPr indent="0" lvl="0" marL="0" rtl="0" algn="ctr">
              <a:lnSpc>
                <a:spcPct val="90000"/>
              </a:lnSpc>
              <a:spcBef>
                <a:spcPts val="1000"/>
              </a:spcBef>
              <a:spcAft>
                <a:spcPts val="0"/>
              </a:spcAft>
              <a:buClr>
                <a:schemeClr val="dk1"/>
              </a:buClr>
              <a:buSzPts val="2400"/>
              <a:buNone/>
            </a:pPr>
            <a:r>
              <a:rPr lang="en-US"/>
              <a:t>Fall 2025 CSc 46000</a:t>
            </a:r>
            <a:endParaRPr/>
          </a:p>
        </p:txBody>
      </p:sp>
      <p:sp>
        <p:nvSpPr>
          <p:cNvPr id="96" name="Google Shape;96;p1"/>
          <p:cNvSpPr/>
          <p:nvPr/>
        </p:nvSpPr>
        <p:spPr>
          <a:xfrm flipH="1" rot="-1577571">
            <a:off x="2494119" y="6170"/>
            <a:ext cx="6816262" cy="6816262"/>
          </a:xfrm>
          <a:prstGeom prst="arc">
            <a:avLst>
              <a:gd fmla="val 16200000" name="adj1"/>
              <a:gd fmla="val 20093138" name="adj2"/>
            </a:avLst>
          </a:prstGeom>
          <a:noFill/>
          <a:ln cap="rnd" cmpd="sng" w="127000">
            <a:solidFill>
              <a:schemeClr val="accent4">
                <a:alpha val="94509"/>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97" name="Google Shape;97;p1"/>
          <p:cNvSpPr/>
          <p:nvPr/>
        </p:nvSpPr>
        <p:spPr>
          <a:xfrm>
            <a:off x="8200995" y="5310973"/>
            <a:ext cx="705948" cy="686798"/>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1" name="Shape 101"/>
        <p:cNvGrpSpPr/>
        <p:nvPr/>
      </p:nvGrpSpPr>
      <p:grpSpPr>
        <a:xfrm>
          <a:off x="0" y="0"/>
          <a:ext cx="0" cy="0"/>
          <a:chOff x="0" y="0"/>
          <a:chExt cx="0" cy="0"/>
        </a:xfrm>
      </p:grpSpPr>
      <p:sp>
        <p:nvSpPr>
          <p:cNvPr id="102" name="Google Shape;102;g36fc104f747_1_6"/>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600"/>
              <a:t>‹#›</a:t>
            </a:fld>
            <a:endParaRPr sz="1600"/>
          </a:p>
        </p:txBody>
      </p:sp>
      <p:sp>
        <p:nvSpPr>
          <p:cNvPr id="103" name="Google Shape;103;g36fc104f747_1_6"/>
          <p:cNvSpPr txBox="1"/>
          <p:nvPr/>
        </p:nvSpPr>
        <p:spPr>
          <a:xfrm>
            <a:off x="991393" y="1045400"/>
            <a:ext cx="10530000" cy="549000"/>
          </a:xfrm>
          <a:prstGeom prst="rect">
            <a:avLst/>
          </a:prstGeom>
          <a:noFill/>
          <a:ln>
            <a:noFill/>
          </a:ln>
        </p:spPr>
        <p:txBody>
          <a:bodyPr anchorCtr="0" anchor="ctr" bIns="45700" lIns="91425" spcFirstLastPara="1" rIns="91425" wrap="square" tIns="45700">
            <a:noAutofit/>
          </a:bodyPr>
          <a:lstStyle/>
          <a:p>
            <a:pPr indent="0" lvl="0" marL="0" marR="0" rtl="0" algn="l">
              <a:lnSpc>
                <a:spcPct val="70000"/>
              </a:lnSpc>
              <a:spcBef>
                <a:spcPts val="0"/>
              </a:spcBef>
              <a:spcAft>
                <a:spcPts val="0"/>
              </a:spcAft>
              <a:buClr>
                <a:srgbClr val="0B49CB"/>
              </a:buClr>
              <a:buSzPts val="4000"/>
              <a:buFont typeface="Arial"/>
              <a:buNone/>
            </a:pPr>
            <a:r>
              <a:rPr lang="en-US" sz="4600">
                <a:solidFill>
                  <a:schemeClr val="lt1"/>
                </a:solidFill>
              </a:rPr>
              <a:t>Agenda</a:t>
            </a:r>
            <a:endParaRPr sz="4600">
              <a:solidFill>
                <a:schemeClr val="lt1"/>
              </a:solidFill>
              <a:latin typeface="IBM Plex Mono SemiBold"/>
              <a:ea typeface="IBM Plex Mono SemiBold"/>
              <a:cs typeface="IBM Plex Mono SemiBold"/>
              <a:sym typeface="IBM Plex Mono SemiBold"/>
            </a:endParaRPr>
          </a:p>
        </p:txBody>
      </p:sp>
      <p:sp>
        <p:nvSpPr>
          <p:cNvPr id="104" name="Google Shape;104;g36fc104f747_1_6"/>
          <p:cNvSpPr txBox="1"/>
          <p:nvPr/>
        </p:nvSpPr>
        <p:spPr>
          <a:xfrm>
            <a:off x="991400" y="1909700"/>
            <a:ext cx="10275900" cy="4226700"/>
          </a:xfrm>
          <a:prstGeom prst="rect">
            <a:avLst/>
          </a:prstGeom>
          <a:noFill/>
          <a:ln>
            <a:noFill/>
          </a:ln>
        </p:spPr>
        <p:txBody>
          <a:bodyPr anchorCtr="0" anchor="t" bIns="91425" lIns="91425" spcFirstLastPara="1" rIns="91425" wrap="square" tIns="91425">
            <a:noAutofit/>
          </a:bodyPr>
          <a:lstStyle/>
          <a:p>
            <a:pPr indent="-406400" lvl="0" marL="457200" rtl="0" algn="l">
              <a:lnSpc>
                <a:spcPct val="200000"/>
              </a:lnSpc>
              <a:spcBef>
                <a:spcPts val="0"/>
              </a:spcBef>
              <a:spcAft>
                <a:spcPts val="0"/>
              </a:spcAft>
              <a:buClr>
                <a:schemeClr val="lt1"/>
              </a:buClr>
              <a:buSzPts val="2800"/>
              <a:buFont typeface="Twentieth Century"/>
              <a:buAutoNum type="arabicPeriod"/>
            </a:pPr>
            <a:r>
              <a:rPr lang="en-US" sz="2800">
                <a:solidFill>
                  <a:schemeClr val="lt1"/>
                </a:solidFill>
                <a:latin typeface="Twentieth Century"/>
                <a:ea typeface="Twentieth Century"/>
                <a:cs typeface="Twentieth Century"/>
                <a:sym typeface="Twentieth Century"/>
              </a:rPr>
              <a:t>Introduction and Problem Statement</a:t>
            </a:r>
            <a:endParaRPr sz="2800">
              <a:solidFill>
                <a:schemeClr val="lt1"/>
              </a:solidFill>
              <a:latin typeface="Twentieth Century"/>
              <a:ea typeface="Twentieth Century"/>
              <a:cs typeface="Twentieth Century"/>
              <a:sym typeface="Twentieth Century"/>
            </a:endParaRPr>
          </a:p>
          <a:p>
            <a:pPr indent="-406400" lvl="0" marL="457200" rtl="0" algn="l">
              <a:lnSpc>
                <a:spcPct val="200000"/>
              </a:lnSpc>
              <a:spcBef>
                <a:spcPts val="0"/>
              </a:spcBef>
              <a:spcAft>
                <a:spcPts val="0"/>
              </a:spcAft>
              <a:buClr>
                <a:schemeClr val="lt1"/>
              </a:buClr>
              <a:buSzPts val="2800"/>
              <a:buFont typeface="Twentieth Century"/>
              <a:buAutoNum type="arabicPeriod"/>
            </a:pPr>
            <a:r>
              <a:rPr lang="en-US" sz="2800">
                <a:solidFill>
                  <a:schemeClr val="lt1"/>
                </a:solidFill>
                <a:latin typeface="Twentieth Century"/>
                <a:ea typeface="Twentieth Century"/>
                <a:cs typeface="Twentieth Century"/>
                <a:sym typeface="Twentieth Century"/>
              </a:rPr>
              <a:t>Preliminary Data Exploration/Feasibility</a:t>
            </a:r>
            <a:endParaRPr sz="2800">
              <a:solidFill>
                <a:schemeClr val="lt1"/>
              </a:solidFill>
              <a:latin typeface="Twentieth Century"/>
              <a:ea typeface="Twentieth Century"/>
              <a:cs typeface="Twentieth Century"/>
              <a:sym typeface="Twentieth Century"/>
            </a:endParaRPr>
          </a:p>
          <a:p>
            <a:pPr indent="-406400" lvl="0" marL="457200" rtl="0" algn="l">
              <a:lnSpc>
                <a:spcPct val="200000"/>
              </a:lnSpc>
              <a:spcBef>
                <a:spcPts val="0"/>
              </a:spcBef>
              <a:spcAft>
                <a:spcPts val="0"/>
              </a:spcAft>
              <a:buClr>
                <a:schemeClr val="lt1"/>
              </a:buClr>
              <a:buSzPts val="2800"/>
              <a:buFont typeface="Twentieth Century"/>
              <a:buAutoNum type="arabicPeriod"/>
            </a:pPr>
            <a:r>
              <a:rPr lang="en-US" sz="2800">
                <a:solidFill>
                  <a:schemeClr val="lt1"/>
                </a:solidFill>
                <a:latin typeface="Twentieth Century"/>
                <a:ea typeface="Twentieth Century"/>
                <a:cs typeface="Twentieth Century"/>
                <a:sym typeface="Twentieth Century"/>
              </a:rPr>
              <a:t>Proposed Tools &amp; Technology Plan</a:t>
            </a:r>
            <a:endParaRPr sz="2800">
              <a:solidFill>
                <a:schemeClr val="lt1"/>
              </a:solidFill>
              <a:latin typeface="Twentieth Century"/>
              <a:ea typeface="Twentieth Century"/>
              <a:cs typeface="Twentieth Century"/>
              <a:sym typeface="Twentieth Century"/>
            </a:endParaRPr>
          </a:p>
          <a:p>
            <a:pPr indent="-406400" lvl="0" marL="457200" rtl="0" algn="l">
              <a:lnSpc>
                <a:spcPct val="200000"/>
              </a:lnSpc>
              <a:spcBef>
                <a:spcPts val="0"/>
              </a:spcBef>
              <a:spcAft>
                <a:spcPts val="0"/>
              </a:spcAft>
              <a:buClr>
                <a:schemeClr val="lt1"/>
              </a:buClr>
              <a:buSzPts val="2800"/>
              <a:buFont typeface="Twentieth Century"/>
              <a:buAutoNum type="arabicPeriod"/>
            </a:pPr>
            <a:r>
              <a:rPr lang="en-US" sz="2800">
                <a:solidFill>
                  <a:schemeClr val="lt1"/>
                </a:solidFill>
                <a:latin typeface="Twentieth Century"/>
                <a:ea typeface="Twentieth Century"/>
                <a:cs typeface="Twentieth Century"/>
                <a:sym typeface="Twentieth Century"/>
              </a:rPr>
              <a:t>Modeling or Analytical Approach</a:t>
            </a:r>
            <a:endParaRPr sz="2800">
              <a:solidFill>
                <a:schemeClr val="lt1"/>
              </a:solidFill>
              <a:latin typeface="Twentieth Century"/>
              <a:ea typeface="Twentieth Century"/>
              <a:cs typeface="Twentieth Century"/>
              <a:sym typeface="Twentieth Century"/>
            </a:endParaRPr>
          </a:p>
          <a:p>
            <a:pPr indent="-406400" lvl="0" marL="457200" rtl="0" algn="l">
              <a:lnSpc>
                <a:spcPct val="200000"/>
              </a:lnSpc>
              <a:spcBef>
                <a:spcPts val="0"/>
              </a:spcBef>
              <a:spcAft>
                <a:spcPts val="0"/>
              </a:spcAft>
              <a:buClr>
                <a:schemeClr val="lt1"/>
              </a:buClr>
              <a:buSzPts val="2800"/>
              <a:buFont typeface="Twentieth Century"/>
              <a:buAutoNum type="arabicPeriod"/>
            </a:pPr>
            <a:r>
              <a:rPr lang="en-US" sz="2800">
                <a:solidFill>
                  <a:schemeClr val="lt1"/>
                </a:solidFill>
                <a:latin typeface="Twentieth Century"/>
                <a:ea typeface="Twentieth Century"/>
                <a:cs typeface="Twentieth Century"/>
                <a:sym typeface="Twentieth Century"/>
              </a:rPr>
              <a:t>Expected Insights &amp; Value</a:t>
            </a:r>
            <a:endParaRPr sz="2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8" name="Shape 108"/>
        <p:cNvGrpSpPr/>
        <p:nvPr/>
      </p:nvGrpSpPr>
      <p:grpSpPr>
        <a:xfrm>
          <a:off x="0" y="0"/>
          <a:ext cx="0" cy="0"/>
          <a:chOff x="0" y="0"/>
          <a:chExt cx="0" cy="0"/>
        </a:xfrm>
      </p:grpSpPr>
      <p:sp>
        <p:nvSpPr>
          <p:cNvPr id="109" name="Google Shape;109;p22"/>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0" name="Google Shape;110;p22"/>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111" name="Google Shape;111;p22"/>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112" name="Google Shape;112;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3" name="Google Shape;113;p22"/>
          <p:cNvSpPr/>
          <p:nvPr/>
        </p:nvSpPr>
        <p:spPr>
          <a:xfrm>
            <a:off x="466928" y="484632"/>
            <a:ext cx="11244036" cy="588091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4" name="Google Shape;114;p22"/>
          <p:cNvSpPr txBox="1"/>
          <p:nvPr>
            <p:ph type="title"/>
          </p:nvPr>
        </p:nvSpPr>
        <p:spPr>
          <a:xfrm>
            <a:off x="4365356" y="806365"/>
            <a:ext cx="7020747" cy="522963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6600"/>
              <a:buFont typeface="Twentieth Century"/>
              <a:buNone/>
            </a:pPr>
            <a:r>
              <a:rPr lang="en-US" sz="6600">
                <a:solidFill>
                  <a:schemeClr val="lt1"/>
                </a:solidFill>
              </a:rPr>
              <a:t>INTRODUCTION AND PROBLEM STATEMENT</a:t>
            </a:r>
            <a:endParaRPr>
              <a:solidFill>
                <a:schemeClr val="lt1"/>
              </a:solidFill>
            </a:endParaRPr>
          </a:p>
        </p:txBody>
      </p:sp>
      <p:cxnSp>
        <p:nvCxnSpPr>
          <p:cNvPr id="115" name="Google Shape;115;p22"/>
          <p:cNvCxnSpPr/>
          <p:nvPr/>
        </p:nvCxnSpPr>
        <p:spPr>
          <a:xfrm>
            <a:off x="4059935" y="1600200"/>
            <a:ext cx="0" cy="36576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121" name="Google Shape;121;p2"/>
          <p:cNvSpPr txBox="1"/>
          <p:nvPr>
            <p:ph type="title"/>
          </p:nvPr>
        </p:nvSpPr>
        <p:spPr>
          <a:xfrm>
            <a:off x="838200" y="459863"/>
            <a:ext cx="10515600" cy="1004594"/>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FF"/>
              </a:buClr>
              <a:buSzPts val="3960"/>
              <a:buFont typeface="Play"/>
              <a:buNone/>
            </a:pPr>
            <a:r>
              <a:rPr lang="en-US" sz="3200">
                <a:solidFill>
                  <a:srgbClr val="FFFFFF"/>
                </a:solidFill>
              </a:rPr>
              <a:t>Forecasting Future Performance of Major Stock Indices Using Linear Regression.</a:t>
            </a:r>
            <a:endParaRPr sz="3200">
              <a:solidFill>
                <a:srgbClr val="FFFFFF"/>
              </a:solidFill>
            </a:endParaRPr>
          </a:p>
        </p:txBody>
      </p:sp>
      <p:sp>
        <p:nvSpPr>
          <p:cNvPr id="122" name="Google Shape;122;p2"/>
          <p:cNvSpPr/>
          <p:nvPr/>
        </p:nvSpPr>
        <p:spPr>
          <a:xfrm>
            <a:off x="579500" y="1902900"/>
            <a:ext cx="11033100" cy="4453500"/>
          </a:xfrm>
          <a:prstGeom prst="roundRect">
            <a:avLst>
              <a:gd fmla="val 3174" name="adj"/>
            </a:avLst>
          </a:prstGeom>
          <a:solidFill>
            <a:schemeClr val="lt1">
              <a:alpha val="9450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grpSp>
        <p:nvGrpSpPr>
          <p:cNvPr id="123" name="Google Shape;123;p2"/>
          <p:cNvGrpSpPr/>
          <p:nvPr/>
        </p:nvGrpSpPr>
        <p:grpSpPr>
          <a:xfrm>
            <a:off x="989600" y="2369129"/>
            <a:ext cx="10364200" cy="3418690"/>
            <a:chOff x="75775" y="578168"/>
            <a:chExt cx="10364200" cy="3418690"/>
          </a:xfrm>
        </p:grpSpPr>
        <p:sp>
          <p:nvSpPr>
            <p:cNvPr id="124" name="Google Shape;124;p2"/>
            <p:cNvSpPr/>
            <p:nvPr/>
          </p:nvSpPr>
          <p:spPr>
            <a:xfrm>
              <a:off x="679050" y="578168"/>
              <a:ext cx="1887187" cy="1887187"/>
            </a:xfrm>
            <a:prstGeom prst="ellipse">
              <a:avLst/>
            </a:prstGeom>
            <a:solidFill>
              <a:srgbClr val="E9713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5" name="Google Shape;125;p2"/>
            <p:cNvSpPr/>
            <p:nvPr/>
          </p:nvSpPr>
          <p:spPr>
            <a:xfrm>
              <a:off x="1081237" y="980356"/>
              <a:ext cx="1082812" cy="108281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6" name="Google Shape;126;p2"/>
            <p:cNvSpPr txBox="1"/>
            <p:nvPr/>
          </p:nvSpPr>
          <p:spPr>
            <a:xfrm>
              <a:off x="75775" y="2465358"/>
              <a:ext cx="3093900" cy="1531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lang="en-US" sz="2000">
                  <a:solidFill>
                    <a:schemeClr val="dk1"/>
                  </a:solidFill>
                  <a:latin typeface="Merriweather"/>
                  <a:ea typeface="Merriweather"/>
                  <a:cs typeface="Merriweather"/>
                  <a:sym typeface="Merriweather"/>
                </a:rPr>
                <a:t>Investors face uncertainty when choosing which major U.S. stock index offers the best long-term potential</a:t>
              </a:r>
              <a:endParaRPr sz="2000">
                <a:solidFill>
                  <a:schemeClr val="dk1"/>
                </a:solidFill>
                <a:latin typeface="Merriweather"/>
                <a:ea typeface="Merriweather"/>
                <a:cs typeface="Merriweather"/>
                <a:sym typeface="Merriweather"/>
              </a:endParaRPr>
            </a:p>
          </p:txBody>
        </p:sp>
        <p:sp>
          <p:nvSpPr>
            <p:cNvPr id="127" name="Google Shape;127;p2"/>
            <p:cNvSpPr/>
            <p:nvPr/>
          </p:nvSpPr>
          <p:spPr>
            <a:xfrm>
              <a:off x="4314206" y="578168"/>
              <a:ext cx="1887187" cy="1887187"/>
            </a:xfrm>
            <a:prstGeom prst="ellipse">
              <a:avLst/>
            </a:prstGeom>
            <a:solidFill>
              <a:srgbClr val="176B2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8" name="Google Shape;128;p2"/>
            <p:cNvSpPr/>
            <p:nvPr/>
          </p:nvSpPr>
          <p:spPr>
            <a:xfrm>
              <a:off x="4716393" y="980356"/>
              <a:ext cx="1082812" cy="108281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9" name="Google Shape;129;p2"/>
            <p:cNvSpPr txBox="1"/>
            <p:nvPr/>
          </p:nvSpPr>
          <p:spPr>
            <a:xfrm>
              <a:off x="3710925" y="2465358"/>
              <a:ext cx="3093900" cy="1531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lang="en-US" sz="2000">
                  <a:solidFill>
                    <a:schemeClr val="dk1"/>
                  </a:solidFill>
                  <a:latin typeface="Merriweather"/>
                  <a:ea typeface="Merriweather"/>
                  <a:cs typeface="Merriweather"/>
                  <a:sym typeface="Merriweather"/>
                </a:rPr>
                <a:t>We’ll use 10+ years of market data from stock APIs and apply linear regression to forecast future </a:t>
              </a:r>
              <a:r>
                <a:rPr lang="en-US" sz="2000">
                  <a:solidFill>
                    <a:schemeClr val="dk1"/>
                  </a:solidFill>
                  <a:latin typeface="Merriweather"/>
                  <a:ea typeface="Merriweather"/>
                  <a:cs typeface="Merriweather"/>
                  <a:sym typeface="Merriweather"/>
                </a:rPr>
                <a:t>performance.</a:t>
              </a:r>
              <a:endParaRPr sz="2000">
                <a:solidFill>
                  <a:schemeClr val="dk1"/>
                </a:solidFill>
                <a:latin typeface="Merriweather"/>
                <a:ea typeface="Merriweather"/>
                <a:cs typeface="Merriweather"/>
                <a:sym typeface="Merriweather"/>
              </a:endParaRPr>
            </a:p>
          </p:txBody>
        </p:sp>
        <p:sp>
          <p:nvSpPr>
            <p:cNvPr id="130" name="Google Shape;130;p2"/>
            <p:cNvSpPr/>
            <p:nvPr/>
          </p:nvSpPr>
          <p:spPr>
            <a:xfrm>
              <a:off x="7949362" y="578168"/>
              <a:ext cx="1887187" cy="1887187"/>
            </a:xfrm>
            <a:prstGeom prst="ellipse">
              <a:avLst/>
            </a:prstGeom>
            <a:solidFill>
              <a:srgbClr val="0C9ED5"/>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31" name="Google Shape;131;p2"/>
            <p:cNvSpPr/>
            <p:nvPr/>
          </p:nvSpPr>
          <p:spPr>
            <a:xfrm>
              <a:off x="8351550" y="980356"/>
              <a:ext cx="1082812" cy="108281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32" name="Google Shape;132;p2"/>
            <p:cNvSpPr txBox="1"/>
            <p:nvPr/>
          </p:nvSpPr>
          <p:spPr>
            <a:xfrm>
              <a:off x="7346075" y="2465358"/>
              <a:ext cx="3093900" cy="1531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lang="en-US" sz="2000">
                  <a:solidFill>
                    <a:schemeClr val="dk1"/>
                  </a:solidFill>
                  <a:latin typeface="Merriweather"/>
                  <a:ea typeface="Merriweather"/>
                  <a:cs typeface="Merriweather"/>
                  <a:sym typeface="Merriweather"/>
                </a:rPr>
                <a:t>Python models and Tableau dashboards will reveal which index shows the strongest growth and stability.</a:t>
              </a:r>
              <a:endParaRPr sz="2000">
                <a:solidFill>
                  <a:schemeClr val="dk1"/>
                </a:solidFill>
                <a:latin typeface="Merriweather"/>
                <a:ea typeface="Merriweather"/>
                <a:cs typeface="Merriweather"/>
                <a:sym typeface="Merriweath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a0721088cc_2_83"/>
          <p:cNvSpPr txBox="1"/>
          <p:nvPr>
            <p:ph type="title"/>
          </p:nvPr>
        </p:nvSpPr>
        <p:spPr>
          <a:xfrm>
            <a:off x="415650" y="261508"/>
            <a:ext cx="11360700" cy="17100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SzPts val="990"/>
              <a:buNone/>
            </a:pPr>
            <a:r>
              <a:rPr lang="en-US" sz="3100"/>
              <a:t>Can we forecast the future performance of major stock indices (S&amp;P 500, NASDAQ, Dow Jones) to determine which offers the best investment potential?</a:t>
            </a:r>
            <a:endParaRPr sz="3100"/>
          </a:p>
        </p:txBody>
      </p:sp>
      <p:sp>
        <p:nvSpPr>
          <p:cNvPr id="139" name="Google Shape;139;g3a0721088cc_2_83"/>
          <p:cNvSpPr txBox="1"/>
          <p:nvPr>
            <p:ph idx="4294967295" type="body"/>
          </p:nvPr>
        </p:nvSpPr>
        <p:spPr>
          <a:xfrm>
            <a:off x="5650204" y="1792325"/>
            <a:ext cx="5956500" cy="4852500"/>
          </a:xfrm>
          <a:prstGeom prst="rect">
            <a:avLst/>
          </a:prstGeom>
          <a:noFill/>
          <a:ln>
            <a:noFill/>
          </a:ln>
        </p:spPr>
        <p:txBody>
          <a:bodyPr anchorCtr="0" anchor="ctr" bIns="45700" lIns="45700" spcFirstLastPara="1" rIns="45700" wrap="square" tIns="45700">
            <a:noAutofit/>
          </a:bodyPr>
          <a:lstStyle/>
          <a:p>
            <a:pPr indent="-381000" lvl="0" marL="457200" rtl="0" algn="l">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Index funds and Exchange-Traded Funds (ETF) rely on stock index performance</a:t>
            </a:r>
            <a:endParaRPr sz="2400">
              <a:solidFill>
                <a:schemeClr val="dk1"/>
              </a:solidFill>
              <a:latin typeface="Merriweather"/>
              <a:ea typeface="Merriweather"/>
              <a:cs typeface="Merriweather"/>
              <a:sym typeface="Merriweather"/>
            </a:endParaRPr>
          </a:p>
          <a:p>
            <a:pPr indent="-381000" lvl="0" marL="457200" rtl="0" algn="l">
              <a:lnSpc>
                <a:spcPct val="90000"/>
              </a:lnSpc>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Tracking performance is important to judging volatility and risk</a:t>
            </a:r>
            <a:endParaRPr sz="2400">
              <a:solidFill>
                <a:schemeClr val="dk1"/>
              </a:solidFill>
              <a:latin typeface="Merriweather"/>
              <a:ea typeface="Merriweather"/>
              <a:cs typeface="Merriweather"/>
              <a:sym typeface="Merriweather"/>
            </a:endParaRPr>
          </a:p>
          <a:p>
            <a:pPr indent="-381000" lvl="0" marL="457200" rtl="0" algn="l">
              <a:lnSpc>
                <a:spcPct val="90000"/>
              </a:lnSpc>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Knowing which indices are better can yield better returns</a:t>
            </a:r>
            <a:endParaRPr sz="2400">
              <a:solidFill>
                <a:schemeClr val="dk1"/>
              </a:solidFill>
              <a:latin typeface="Merriweather"/>
              <a:ea typeface="Merriweather"/>
              <a:cs typeface="Merriweather"/>
              <a:sym typeface="Merriweather"/>
            </a:endParaRPr>
          </a:p>
          <a:p>
            <a:pPr indent="-381000" lvl="0" marL="457200" rtl="0" algn="l">
              <a:lnSpc>
                <a:spcPct val="90000"/>
              </a:lnSpc>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Being able to automate performance analytics means lower costs</a:t>
            </a:r>
            <a:endParaRPr sz="2400">
              <a:solidFill>
                <a:schemeClr val="dk1"/>
              </a:solidFill>
              <a:latin typeface="Merriweather"/>
              <a:ea typeface="Merriweather"/>
              <a:cs typeface="Merriweather"/>
              <a:sym typeface="Merriweather"/>
            </a:endParaRPr>
          </a:p>
        </p:txBody>
      </p:sp>
      <p:pic>
        <p:nvPicPr>
          <p:cNvPr id="140" name="Google Shape;140;g3a0721088cc_2_83"/>
          <p:cNvPicPr preferRelativeResize="0"/>
          <p:nvPr/>
        </p:nvPicPr>
        <p:blipFill>
          <a:blip r:embed="rId3">
            <a:alphaModFix/>
          </a:blip>
          <a:stretch>
            <a:fillRect/>
          </a:stretch>
        </p:blipFill>
        <p:spPr>
          <a:xfrm>
            <a:off x="507725" y="2201150"/>
            <a:ext cx="4267200" cy="426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146" name="Google Shape;146;p25"/>
          <p:cNvGrpSpPr/>
          <p:nvPr/>
        </p:nvGrpSpPr>
        <p:grpSpPr>
          <a:xfrm>
            <a:off x="624725" y="1819650"/>
            <a:ext cx="11151600" cy="4495150"/>
            <a:chOff x="-168643" y="0"/>
            <a:chExt cx="11151600" cy="4495150"/>
          </a:xfrm>
        </p:grpSpPr>
        <p:sp>
          <p:nvSpPr>
            <p:cNvPr id="147" name="Google Shape;147;p25"/>
            <p:cNvSpPr/>
            <p:nvPr/>
          </p:nvSpPr>
          <p:spPr>
            <a:xfrm>
              <a:off x="189767" y="0"/>
              <a:ext cx="1510500" cy="1289700"/>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189767"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txBox="1"/>
            <p:nvPr/>
          </p:nvSpPr>
          <p:spPr>
            <a:xfrm>
              <a:off x="189767" y="1454567"/>
              <a:ext cx="4315800" cy="55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Twentieth Century"/>
                <a:buNone/>
              </a:pPr>
              <a:r>
                <a:rPr b="1" lang="en-US" sz="2200">
                  <a:solidFill>
                    <a:schemeClr val="dk1"/>
                  </a:solidFill>
                  <a:latin typeface="Merriweather"/>
                  <a:ea typeface="Merriweather"/>
                  <a:cs typeface="Merriweather"/>
                  <a:sym typeface="Merriweather"/>
                </a:rPr>
                <a:t>Project background and context</a:t>
              </a:r>
              <a:endParaRPr>
                <a:latin typeface="Merriweather"/>
                <a:ea typeface="Merriweather"/>
                <a:cs typeface="Merriweather"/>
                <a:sym typeface="Merriweather"/>
              </a:endParaRPr>
            </a:p>
          </p:txBody>
        </p:sp>
        <p:sp>
          <p:nvSpPr>
            <p:cNvPr id="150" name="Google Shape;150;p25"/>
            <p:cNvSpPr/>
            <p:nvPr/>
          </p:nvSpPr>
          <p:spPr>
            <a:xfrm>
              <a:off x="189767" y="2083983"/>
              <a:ext cx="4315800" cy="241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5"/>
            <p:cNvSpPr txBox="1"/>
            <p:nvPr/>
          </p:nvSpPr>
          <p:spPr>
            <a:xfrm>
              <a:off x="-168643" y="2172050"/>
              <a:ext cx="5830500" cy="23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700"/>
                <a:buFont typeface="Twentieth Century"/>
                <a:buNone/>
              </a:pPr>
              <a:r>
                <a:rPr lang="en-US" sz="1900">
                  <a:latin typeface="Merriweather"/>
                  <a:ea typeface="Merriweather"/>
                  <a:cs typeface="Merriweather"/>
                  <a:sym typeface="Merriweather"/>
                </a:rPr>
                <a:t>There are many different </a:t>
              </a:r>
              <a:r>
                <a:rPr lang="en-US" sz="1900">
                  <a:latin typeface="Merriweather"/>
                  <a:ea typeface="Merriweather"/>
                  <a:cs typeface="Merriweather"/>
                  <a:sym typeface="Merriweather"/>
                </a:rPr>
                <a:t>indices</a:t>
              </a:r>
              <a:r>
                <a:rPr lang="en-US" sz="1900">
                  <a:latin typeface="Merriweather"/>
                  <a:ea typeface="Merriweather"/>
                  <a:cs typeface="Merriweather"/>
                  <a:sym typeface="Merriweather"/>
                </a:rPr>
                <a:t>. For example, t</a:t>
              </a:r>
              <a:r>
                <a:rPr lang="en-US" sz="1900">
                  <a:latin typeface="Merriweather"/>
                  <a:ea typeface="Merriweather"/>
                  <a:cs typeface="Merriweather"/>
                  <a:sym typeface="Merriweather"/>
                </a:rPr>
                <a:t>he top 3 followed indices in the US are Standard &amp; Poor’s 500, the Dow Jones Industrial Average, and the Nasdaq Composite.</a:t>
              </a:r>
              <a:endParaRPr sz="1900">
                <a:latin typeface="Merriweather"/>
                <a:ea typeface="Merriweather"/>
                <a:cs typeface="Merriweather"/>
                <a:sym typeface="Merriweather"/>
              </a:endParaRPr>
            </a:p>
            <a:p>
              <a:pPr indent="0" lvl="0" marL="0" marR="0" rtl="0" algn="l">
                <a:lnSpc>
                  <a:spcPct val="100000"/>
                </a:lnSpc>
                <a:spcBef>
                  <a:spcPts val="0"/>
                </a:spcBef>
                <a:spcAft>
                  <a:spcPts val="0"/>
                </a:spcAft>
                <a:buClr>
                  <a:schemeClr val="dk1"/>
                </a:buClr>
                <a:buSzPts val="1700"/>
                <a:buFont typeface="Twentieth Century"/>
                <a:buNone/>
              </a:pPr>
              <a:r>
                <a:rPr lang="en-US" sz="1900">
                  <a:latin typeface="Merriweather"/>
                  <a:ea typeface="Merriweather"/>
                  <a:cs typeface="Merriweather"/>
                  <a:sym typeface="Merriweather"/>
                </a:rPr>
                <a:t>Different indices focus on different things. For example, Dow Jones focuses on “blue chip” companies, which are stable, </a:t>
              </a:r>
              <a:r>
                <a:rPr lang="en-US" sz="1900">
                  <a:latin typeface="Merriweather"/>
                  <a:ea typeface="Merriweather"/>
                  <a:cs typeface="Merriweather"/>
                  <a:sym typeface="Merriweather"/>
                </a:rPr>
                <a:t>publicly</a:t>
              </a:r>
              <a:r>
                <a:rPr lang="en-US" sz="1900">
                  <a:latin typeface="Merriweather"/>
                  <a:ea typeface="Merriweather"/>
                  <a:cs typeface="Merriweather"/>
                  <a:sym typeface="Merriweather"/>
                </a:rPr>
                <a:t> traded companies with long reputations.</a:t>
              </a:r>
              <a:endParaRPr sz="1900">
                <a:latin typeface="Merriweather"/>
                <a:ea typeface="Merriweather"/>
                <a:cs typeface="Merriweather"/>
                <a:sym typeface="Merriweather"/>
              </a:endParaRPr>
            </a:p>
          </p:txBody>
        </p:sp>
        <p:sp>
          <p:nvSpPr>
            <p:cNvPr id="152" name="Google Shape;152;p25"/>
            <p:cNvSpPr/>
            <p:nvPr/>
          </p:nvSpPr>
          <p:spPr>
            <a:xfrm>
              <a:off x="6305335" y="0"/>
              <a:ext cx="1510500" cy="1289700"/>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5"/>
            <p:cNvSpPr/>
            <p:nvPr/>
          </p:nvSpPr>
          <p:spPr>
            <a:xfrm>
              <a:off x="5260810"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txBox="1"/>
            <p:nvPr/>
          </p:nvSpPr>
          <p:spPr>
            <a:xfrm>
              <a:off x="6305335" y="1454567"/>
              <a:ext cx="4315800" cy="55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Twentieth Century"/>
                <a:buNone/>
              </a:pPr>
              <a:r>
                <a:rPr b="1" lang="en-US" sz="2200">
                  <a:solidFill>
                    <a:schemeClr val="dk1"/>
                  </a:solidFill>
                  <a:latin typeface="Merriweather"/>
                  <a:ea typeface="Merriweather"/>
                  <a:cs typeface="Merriweather"/>
                  <a:sym typeface="Merriweather"/>
                </a:rPr>
                <a:t>Problems you want to find answers</a:t>
              </a:r>
              <a:endParaRPr>
                <a:latin typeface="Merriweather"/>
                <a:ea typeface="Merriweather"/>
                <a:cs typeface="Merriweather"/>
                <a:sym typeface="Merriweather"/>
              </a:endParaRPr>
            </a:p>
          </p:txBody>
        </p:sp>
        <p:sp>
          <p:nvSpPr>
            <p:cNvPr id="155" name="Google Shape;155;p25"/>
            <p:cNvSpPr txBox="1"/>
            <p:nvPr/>
          </p:nvSpPr>
          <p:spPr>
            <a:xfrm>
              <a:off x="6380957" y="2084050"/>
              <a:ext cx="4602000" cy="241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595"/>
                </a:spcBef>
                <a:spcAft>
                  <a:spcPts val="0"/>
                </a:spcAft>
                <a:buClr>
                  <a:schemeClr val="dk1"/>
                </a:buClr>
                <a:buSzPts val="1700"/>
                <a:buFont typeface="Twentieth Century"/>
                <a:buNone/>
              </a:pPr>
              <a:r>
                <a:rPr lang="en-US" sz="2100">
                  <a:solidFill>
                    <a:schemeClr val="dk1"/>
                  </a:solidFill>
                  <a:latin typeface="Merriweather"/>
                  <a:ea typeface="Merriweather"/>
                  <a:cs typeface="Merriweather"/>
                  <a:sym typeface="Merriweather"/>
                </a:rPr>
                <a:t>What can we use to predict future performance?</a:t>
              </a:r>
              <a:br>
                <a:rPr lang="en-US" sz="2100">
                  <a:solidFill>
                    <a:schemeClr val="dk1"/>
                  </a:solidFill>
                  <a:latin typeface="Merriweather"/>
                  <a:ea typeface="Merriweather"/>
                  <a:cs typeface="Merriweather"/>
                  <a:sym typeface="Merriweather"/>
                </a:rPr>
              </a:br>
              <a:r>
                <a:rPr lang="en-US" sz="2100">
                  <a:solidFill>
                    <a:schemeClr val="dk1"/>
                  </a:solidFill>
                  <a:latin typeface="Merriweather"/>
                  <a:ea typeface="Merriweather"/>
                  <a:cs typeface="Merriweather"/>
                  <a:sym typeface="Merriweather"/>
                </a:rPr>
                <a:t>What different models can we apply?</a:t>
              </a:r>
              <a:endParaRPr sz="2100">
                <a:solidFill>
                  <a:schemeClr val="dk1"/>
                </a:solidFill>
                <a:latin typeface="Merriweather"/>
                <a:ea typeface="Merriweather"/>
                <a:cs typeface="Merriweather"/>
                <a:sym typeface="Merriweather"/>
              </a:endParaRPr>
            </a:p>
            <a:p>
              <a:pPr indent="0" lvl="0" marL="0" marR="0" rtl="0" algn="l">
                <a:lnSpc>
                  <a:spcPct val="100000"/>
                </a:lnSpc>
                <a:spcBef>
                  <a:spcPts val="595"/>
                </a:spcBef>
                <a:spcAft>
                  <a:spcPts val="0"/>
                </a:spcAft>
                <a:buClr>
                  <a:schemeClr val="dk1"/>
                </a:buClr>
                <a:buSzPts val="1700"/>
                <a:buFont typeface="Twentieth Century"/>
                <a:buNone/>
              </a:pPr>
              <a:r>
                <a:rPr lang="en-US" sz="2100">
                  <a:solidFill>
                    <a:schemeClr val="dk1"/>
                  </a:solidFill>
                  <a:latin typeface="Merriweather"/>
                  <a:ea typeface="Merriweather"/>
                  <a:cs typeface="Merriweather"/>
                  <a:sym typeface="Merriweather"/>
                </a:rPr>
                <a:t>What time range should we look at for different models?</a:t>
              </a:r>
              <a:endParaRPr sz="2100">
                <a:solidFill>
                  <a:schemeClr val="dk1"/>
                </a:solidFill>
                <a:latin typeface="Merriweather"/>
                <a:ea typeface="Merriweather"/>
                <a:cs typeface="Merriweather"/>
                <a:sym typeface="Merriweather"/>
              </a:endParaRPr>
            </a:p>
          </p:txBody>
        </p:sp>
      </p:grpSp>
      <p:sp>
        <p:nvSpPr>
          <p:cNvPr id="156" name="Google Shape;156;p25"/>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Introduction and Problem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6fc104f747_1_29"/>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162" name="Google Shape;162;g36fc104f747_1_29"/>
          <p:cNvGrpSpPr/>
          <p:nvPr/>
        </p:nvGrpSpPr>
        <p:grpSpPr>
          <a:xfrm>
            <a:off x="986825" y="3068239"/>
            <a:ext cx="10137790" cy="3570478"/>
            <a:chOff x="189767" y="1454567"/>
            <a:chExt cx="9386843" cy="3040516"/>
          </a:xfrm>
        </p:grpSpPr>
        <p:sp>
          <p:nvSpPr>
            <p:cNvPr id="163" name="Google Shape;163;g36fc104f747_1_29"/>
            <p:cNvSpPr/>
            <p:nvPr/>
          </p:nvSpPr>
          <p:spPr>
            <a:xfrm>
              <a:off x="189767"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fc104f747_1_29"/>
            <p:cNvSpPr txBox="1"/>
            <p:nvPr/>
          </p:nvSpPr>
          <p:spPr>
            <a:xfrm>
              <a:off x="189767" y="1454567"/>
              <a:ext cx="4315800" cy="552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Twentieth Century"/>
                <a:buNone/>
              </a:pPr>
              <a:r>
                <a:rPr b="1" lang="en-US" sz="2200">
                  <a:solidFill>
                    <a:schemeClr val="dk1"/>
                  </a:solidFill>
                  <a:latin typeface="Twentieth Century"/>
                  <a:ea typeface="Twentieth Century"/>
                  <a:cs typeface="Twentieth Century"/>
                  <a:sym typeface="Twentieth Century"/>
                </a:rPr>
                <a:t>Stakeholders</a:t>
              </a:r>
              <a:endParaRPr/>
            </a:p>
          </p:txBody>
        </p:sp>
        <p:sp>
          <p:nvSpPr>
            <p:cNvPr id="165" name="Google Shape;165;g36fc104f747_1_29"/>
            <p:cNvSpPr/>
            <p:nvPr/>
          </p:nvSpPr>
          <p:spPr>
            <a:xfrm>
              <a:off x="189767" y="2083983"/>
              <a:ext cx="4315800" cy="24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ETF Managers</a:t>
              </a:r>
              <a:endParaRPr sz="2200">
                <a:solidFill>
                  <a:schemeClr val="dk1"/>
                </a:solidFill>
                <a:latin typeface="Merriweather"/>
                <a:ea typeface="Merriweather"/>
                <a:cs typeface="Merriweather"/>
                <a:sym typeface="Merriweather"/>
              </a:endParaRPr>
            </a:p>
            <a:p>
              <a:pPr indent="0" lvl="0" marL="457200" rtl="0" algn="l">
                <a:spcBef>
                  <a:spcPts val="0"/>
                </a:spcBef>
                <a:spcAft>
                  <a:spcPts val="0"/>
                </a:spcAft>
                <a:buClr>
                  <a:schemeClr val="dk1"/>
                </a:buClr>
                <a:buSzPts val="1100"/>
                <a:buFont typeface="Arial"/>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Retail Investors</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Clr>
                  <a:schemeClr val="dk1"/>
                </a:buClr>
                <a:buSzPts val="1100"/>
                <a:buFont typeface="Arial"/>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Index Fund Providers</a:t>
              </a:r>
              <a:endParaRPr sz="2200">
                <a:solidFill>
                  <a:schemeClr val="dk1"/>
                </a:solidFill>
                <a:latin typeface="Merriweather"/>
                <a:ea typeface="Merriweather"/>
                <a:cs typeface="Merriweather"/>
                <a:sym typeface="Merriweather"/>
              </a:endParaRPr>
            </a:p>
            <a:p>
              <a:pPr indent="0" lvl="0" marL="457200" rtl="0" algn="l">
                <a:spcBef>
                  <a:spcPts val="0"/>
                </a:spcBef>
                <a:spcAft>
                  <a:spcPts val="0"/>
                </a:spcAft>
                <a:buClr>
                  <a:schemeClr val="dk1"/>
                </a:buClr>
                <a:buSzPts val="1100"/>
                <a:buFont typeface="Arial"/>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Financial Analysts</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a:latin typeface="Merriweather"/>
                <a:ea typeface="Merriweather"/>
                <a:cs typeface="Merriweather"/>
                <a:sym typeface="Merriweather"/>
              </a:endParaRPr>
            </a:p>
          </p:txBody>
        </p:sp>
        <p:sp>
          <p:nvSpPr>
            <p:cNvPr id="166" name="Google Shape;166;g36fc104f747_1_29"/>
            <p:cNvSpPr txBox="1"/>
            <p:nvPr/>
          </p:nvSpPr>
          <p:spPr>
            <a:xfrm flipH="1">
              <a:off x="5478010" y="2083972"/>
              <a:ext cx="4098600" cy="241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2200">
                  <a:latin typeface="Merriweather"/>
                  <a:ea typeface="Merriweather"/>
                  <a:cs typeface="Merriweather"/>
                  <a:sym typeface="Merriweather"/>
                </a:rPr>
                <a:t>Forecast 5-year growth (2025–2030)</a:t>
              </a:r>
              <a:endParaRPr sz="2200">
                <a:latin typeface="Merriweather"/>
                <a:ea typeface="Merriweather"/>
                <a:cs typeface="Merriweather"/>
                <a:sym typeface="Merriweather"/>
              </a:endParaRPr>
            </a:p>
            <a:p>
              <a:pPr indent="0" lvl="0" marL="457200" marR="0" rtl="0" algn="l">
                <a:lnSpc>
                  <a:spcPct val="100000"/>
                </a:lnSpc>
                <a:spcBef>
                  <a:spcPts val="0"/>
                </a:spcBef>
                <a:spcAft>
                  <a:spcPts val="0"/>
                </a:spcAft>
                <a:buNone/>
              </a:pPr>
              <a:r>
                <a:t/>
              </a:r>
              <a:endParaRPr sz="2200">
                <a:latin typeface="Merriweather"/>
                <a:ea typeface="Merriweather"/>
                <a:cs typeface="Merriweather"/>
                <a:sym typeface="Merriweather"/>
              </a:endParaRPr>
            </a:p>
            <a:p>
              <a:pPr indent="0" lvl="0" marL="0" marR="0" rtl="0" algn="l">
                <a:lnSpc>
                  <a:spcPct val="100000"/>
                </a:lnSpc>
                <a:spcBef>
                  <a:spcPts val="0"/>
                </a:spcBef>
                <a:spcAft>
                  <a:spcPts val="0"/>
                </a:spcAft>
                <a:buNone/>
              </a:pPr>
              <a:r>
                <a:rPr lang="en-US" sz="2200">
                  <a:latin typeface="Merriweather"/>
                  <a:ea typeface="Merriweather"/>
                  <a:cs typeface="Merriweather"/>
                  <a:sym typeface="Merriweather"/>
                </a:rPr>
                <a:t>Compare SPY, QQQ, and AGG over the future</a:t>
              </a:r>
              <a:endParaRPr sz="2200">
                <a:latin typeface="Merriweather"/>
                <a:ea typeface="Merriweather"/>
                <a:cs typeface="Merriweather"/>
                <a:sym typeface="Merriweather"/>
              </a:endParaRPr>
            </a:p>
            <a:p>
              <a:pPr indent="0" lvl="0" marL="457200" marR="0" rtl="0" algn="l">
                <a:lnSpc>
                  <a:spcPct val="100000"/>
                </a:lnSpc>
                <a:spcBef>
                  <a:spcPts val="0"/>
                </a:spcBef>
                <a:spcAft>
                  <a:spcPts val="0"/>
                </a:spcAft>
                <a:buNone/>
              </a:pPr>
              <a:r>
                <a:t/>
              </a:r>
              <a:endParaRPr sz="2200">
                <a:latin typeface="Merriweather"/>
                <a:ea typeface="Merriweather"/>
                <a:cs typeface="Merriweather"/>
                <a:sym typeface="Merriweather"/>
              </a:endParaRPr>
            </a:p>
            <a:p>
              <a:pPr indent="0" lvl="0" marL="0" marR="0" rtl="0" algn="l">
                <a:lnSpc>
                  <a:spcPct val="100000"/>
                </a:lnSpc>
                <a:spcBef>
                  <a:spcPts val="0"/>
                </a:spcBef>
                <a:spcAft>
                  <a:spcPts val="0"/>
                </a:spcAft>
                <a:buNone/>
              </a:pPr>
              <a:r>
                <a:rPr lang="en-US" sz="2200">
                  <a:latin typeface="Merriweather"/>
                  <a:ea typeface="Merriweather"/>
                  <a:cs typeface="Merriweather"/>
                  <a:sym typeface="Merriweather"/>
                </a:rPr>
                <a:t>Highlight best index for growth + stability</a:t>
              </a:r>
              <a:endParaRPr sz="2200">
                <a:latin typeface="Merriweather"/>
                <a:ea typeface="Merriweather"/>
                <a:cs typeface="Merriweather"/>
                <a:sym typeface="Merriweather"/>
              </a:endParaRPr>
            </a:p>
          </p:txBody>
        </p:sp>
        <p:sp>
          <p:nvSpPr>
            <p:cNvPr id="167" name="Google Shape;167;g36fc104f747_1_29"/>
            <p:cNvSpPr/>
            <p:nvPr/>
          </p:nvSpPr>
          <p:spPr>
            <a:xfrm>
              <a:off x="5260810"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2200"/>
                <a:buFont typeface="Twentieth Century"/>
                <a:buNone/>
              </a:pPr>
              <a:r>
                <a:rPr b="1" lang="en-US" sz="2200">
                  <a:solidFill>
                    <a:schemeClr val="dk1"/>
                  </a:solidFill>
                  <a:latin typeface="Twentieth Century"/>
                  <a:ea typeface="Twentieth Century"/>
                  <a:cs typeface="Twentieth Century"/>
                  <a:sym typeface="Twentieth Century"/>
                </a:rPr>
                <a:t>Measurable Goal</a:t>
              </a:r>
              <a:endParaRPr>
                <a:latin typeface="Twentieth Century"/>
                <a:ea typeface="Twentieth Century"/>
                <a:cs typeface="Twentieth Century"/>
                <a:sym typeface="Twentieth Century"/>
              </a:endParaRPr>
            </a:p>
          </p:txBody>
        </p:sp>
      </p:grpSp>
      <p:pic>
        <p:nvPicPr>
          <p:cNvPr id="168" name="Google Shape;168;g36fc104f747_1_29"/>
          <p:cNvPicPr preferRelativeResize="0"/>
          <p:nvPr/>
        </p:nvPicPr>
        <p:blipFill>
          <a:blip r:embed="rId3">
            <a:alphaModFix/>
          </a:blip>
          <a:stretch>
            <a:fillRect/>
          </a:stretch>
        </p:blipFill>
        <p:spPr>
          <a:xfrm>
            <a:off x="1064075" y="1769525"/>
            <a:ext cx="1255250" cy="1255250"/>
          </a:xfrm>
          <a:prstGeom prst="rect">
            <a:avLst/>
          </a:prstGeom>
          <a:noFill/>
          <a:ln>
            <a:noFill/>
          </a:ln>
        </p:spPr>
      </p:pic>
      <p:pic>
        <p:nvPicPr>
          <p:cNvPr id="169" name="Google Shape;169;g36fc104f747_1_29"/>
          <p:cNvPicPr preferRelativeResize="0"/>
          <p:nvPr/>
        </p:nvPicPr>
        <p:blipFill>
          <a:blip r:embed="rId4">
            <a:alphaModFix/>
          </a:blip>
          <a:stretch>
            <a:fillRect/>
          </a:stretch>
        </p:blipFill>
        <p:spPr>
          <a:xfrm>
            <a:off x="6694325" y="1726050"/>
            <a:ext cx="1342200" cy="1342200"/>
          </a:xfrm>
          <a:prstGeom prst="rect">
            <a:avLst/>
          </a:prstGeom>
          <a:noFill/>
          <a:ln>
            <a:noFill/>
          </a:ln>
        </p:spPr>
      </p:pic>
      <p:sp>
        <p:nvSpPr>
          <p:cNvPr id="170" name="Google Shape;170;g36fc104f747_1_29"/>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Stakeholders and Measurable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26"/>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76" name="Google Shape;176;p26"/>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177" name="Google Shape;177;p26"/>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178" name="Google Shape;178;p26"/>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79" name="Google Shape;179;p26"/>
          <p:cNvSpPr/>
          <p:nvPr/>
        </p:nvSpPr>
        <p:spPr>
          <a:xfrm>
            <a:off x="505464" y="484632"/>
            <a:ext cx="7453538"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
        <p:nvSpPr>
          <p:cNvPr id="180" name="Google Shape;180;p26"/>
          <p:cNvSpPr txBox="1"/>
          <p:nvPr>
            <p:ph type="title"/>
          </p:nvPr>
        </p:nvSpPr>
        <p:spPr>
          <a:xfrm>
            <a:off x="990096" y="977900"/>
            <a:ext cx="6539558" cy="3327734"/>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400"/>
              <a:buFont typeface="Twentieth Century"/>
              <a:buNone/>
            </a:pPr>
            <a:r>
              <a:rPr lang="en-US" sz="5400"/>
              <a:t>METHOD AND PROCESS</a:t>
            </a:r>
            <a:endParaRPr/>
          </a:p>
        </p:txBody>
      </p:sp>
      <p:cxnSp>
        <p:nvCxnSpPr>
          <p:cNvPr id="181" name="Google Shape;181;p26"/>
          <p:cNvCxnSpPr/>
          <p:nvPr/>
        </p:nvCxnSpPr>
        <p:spPr>
          <a:xfrm>
            <a:off x="2158680" y="4476657"/>
            <a:ext cx="5370974" cy="0"/>
          </a:xfrm>
          <a:prstGeom prst="straightConnector1">
            <a:avLst/>
          </a:prstGeom>
          <a:noFill/>
          <a:ln cap="flat" cmpd="sng" w="19050">
            <a:solidFill>
              <a:srgbClr val="1482AB"/>
            </a:solidFill>
            <a:prstDash val="solid"/>
            <a:round/>
            <a:headEnd len="sm" w="sm" type="none"/>
            <a:tailEnd len="sm" w="sm" type="none"/>
          </a:ln>
        </p:spPr>
      </p:cxnSp>
      <p:sp>
        <p:nvSpPr>
          <p:cNvPr id="182" name="Google Shape;182;p26"/>
          <p:cNvSpPr/>
          <p:nvPr/>
        </p:nvSpPr>
        <p:spPr>
          <a:xfrm>
            <a:off x="8119870" y="484632"/>
            <a:ext cx="3584224"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80"/>
                                        </p:tgtEl>
                                        <p:attrNameLst>
                                          <p:attrName>style.visibility</p:attrName>
                                        </p:attrNameLst>
                                      </p:cBhvr>
                                      <p:to>
                                        <p:strVal val="visible"/>
                                      </p:to>
                                    </p:set>
                                    <p:animEffect filter="fade" transition="in">
                                      <p:cBhvr>
                                        <p:cTn dur="4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3"/>
          <p:cNvSpPr/>
          <p:nvPr/>
        </p:nvSpPr>
        <p:spPr>
          <a:xfrm>
            <a:off x="3048" y="11763"/>
            <a:ext cx="12189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188" name="Google Shape;188;p3"/>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189" name="Google Shape;189;p3"/>
          <p:cNvSpPr txBox="1"/>
          <p:nvPr>
            <p:ph type="title"/>
          </p:nvPr>
        </p:nvSpPr>
        <p:spPr>
          <a:xfrm>
            <a:off x="357275" y="1708362"/>
            <a:ext cx="3810000" cy="335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5000"/>
              <a:buFont typeface="Play"/>
              <a:buNone/>
            </a:pPr>
            <a:r>
              <a:rPr lang="en-US">
                <a:solidFill>
                  <a:srgbClr val="FFFFFF"/>
                </a:solidFill>
              </a:rPr>
              <a:t>How we will Collect, Process, and Analyze the Data</a:t>
            </a:r>
            <a:endParaRPr/>
          </a:p>
        </p:txBody>
      </p:sp>
      <p:sp>
        <p:nvSpPr>
          <p:cNvPr id="190" name="Google Shape;190;p3"/>
          <p:cNvSpPr txBox="1"/>
          <p:nvPr>
            <p:ph idx="1" type="body"/>
          </p:nvPr>
        </p:nvSpPr>
        <p:spPr>
          <a:xfrm>
            <a:off x="4167275" y="558150"/>
            <a:ext cx="7327500" cy="3515100"/>
          </a:xfrm>
          <a:prstGeom prst="rect">
            <a:avLst/>
          </a:prstGeom>
          <a:noFill/>
          <a:ln>
            <a:noFill/>
          </a:ln>
        </p:spPr>
        <p:txBody>
          <a:bodyPr anchorCtr="0" anchor="ctr" bIns="45700" lIns="91425" spcFirstLastPara="1" rIns="91425" wrap="square" tIns="45700">
            <a:normAutofit fontScale="77500" lnSpcReduction="20000"/>
          </a:bodyPr>
          <a:lstStyle/>
          <a:p>
            <a:pPr indent="0" lvl="0" marL="0" rtl="0" algn="l">
              <a:lnSpc>
                <a:spcPct val="115000"/>
              </a:lnSpc>
              <a:spcBef>
                <a:spcPts val="1000"/>
              </a:spcBef>
              <a:spcAft>
                <a:spcPts val="0"/>
              </a:spcAft>
              <a:buSzPct val="100000"/>
              <a:buNone/>
            </a:pPr>
            <a:r>
              <a:rPr lang="en-US" sz="2600">
                <a:solidFill>
                  <a:schemeClr val="lt1"/>
                </a:solidFill>
                <a:latin typeface="Merriweather"/>
                <a:ea typeface="Merriweather"/>
                <a:cs typeface="Merriweather"/>
                <a:sym typeface="Merriweather"/>
              </a:rPr>
              <a:t>How Our Process Works</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100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Collect 10+ years of index price data using </a:t>
            </a:r>
            <a:r>
              <a:rPr lang="en-US" sz="2600" u="sng">
                <a:solidFill>
                  <a:schemeClr val="lt1"/>
                </a:solidFill>
                <a:latin typeface="Merriweather"/>
                <a:ea typeface="Merriweather"/>
                <a:cs typeface="Merriweather"/>
                <a:sym typeface="Merriweather"/>
                <a:hlinkClick r:id="rId3">
                  <a:extLst>
                    <a:ext uri="{A12FA001-AC4F-418D-AE19-62706E023703}">
                      <ahyp:hlinkClr val="tx"/>
                    </a:ext>
                  </a:extLst>
                </a:hlinkClick>
              </a:rPr>
              <a:t>Polygon.io</a:t>
            </a:r>
            <a:r>
              <a:rPr lang="en-US" sz="2600">
                <a:solidFill>
                  <a:schemeClr val="lt1"/>
                </a:solidFill>
                <a:latin typeface="Merriweather"/>
                <a:ea typeface="Merriweather"/>
                <a:cs typeface="Merriweather"/>
                <a:sym typeface="Merriweather"/>
              </a:rPr>
              <a:t> API</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Clean &amp; normalize data in Python (Pandas) </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Apply</a:t>
            </a:r>
            <a:r>
              <a:rPr lang="en-US" sz="2600">
                <a:solidFill>
                  <a:schemeClr val="lt1"/>
                </a:solidFill>
                <a:latin typeface="Merriweather"/>
                <a:ea typeface="Merriweather"/>
                <a:cs typeface="Merriweather"/>
                <a:sym typeface="Merriweather"/>
              </a:rPr>
              <a:t> Machine Learning Techniques (scikit-learn) to forecast performance</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Visualize </a:t>
            </a:r>
            <a:r>
              <a:rPr lang="en-US" sz="2600">
                <a:solidFill>
                  <a:schemeClr val="lt1"/>
                </a:solidFill>
                <a:latin typeface="Merriweather"/>
                <a:ea typeface="Merriweather"/>
                <a:cs typeface="Merriweather"/>
                <a:sym typeface="Merriweather"/>
              </a:rPr>
              <a:t>results</a:t>
            </a:r>
            <a:r>
              <a:rPr lang="en-US" sz="2600">
                <a:solidFill>
                  <a:schemeClr val="lt1"/>
                </a:solidFill>
                <a:latin typeface="Merriweather"/>
                <a:ea typeface="Merriweather"/>
                <a:cs typeface="Merriweather"/>
                <a:sym typeface="Merriweather"/>
              </a:rPr>
              <a:t> using Tableau dashboards for comparison</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Extract Investment insights</a:t>
            </a:r>
            <a:endParaRPr sz="2600">
              <a:solidFill>
                <a:schemeClr val="lt1"/>
              </a:solidFill>
              <a:latin typeface="Merriweather"/>
              <a:ea typeface="Merriweather"/>
              <a:cs typeface="Merriweather"/>
              <a:sym typeface="Merriweather"/>
            </a:endParaRPr>
          </a:p>
          <a:p>
            <a:pPr indent="0" lvl="0" marL="0" rtl="0" algn="l">
              <a:lnSpc>
                <a:spcPct val="115000"/>
              </a:lnSpc>
              <a:spcBef>
                <a:spcPts val="1000"/>
              </a:spcBef>
              <a:spcAft>
                <a:spcPts val="0"/>
              </a:spcAft>
              <a:buSzPct val="100000"/>
              <a:buNone/>
            </a:pPr>
            <a:r>
              <a:t/>
            </a:r>
            <a:endParaRPr sz="2600">
              <a:latin typeface="Merriweather"/>
              <a:ea typeface="Merriweather"/>
              <a:cs typeface="Merriweather"/>
              <a:sym typeface="Merriweather"/>
            </a:endParaRPr>
          </a:p>
        </p:txBody>
      </p:sp>
      <p:sp>
        <p:nvSpPr>
          <p:cNvPr id="191" name="Google Shape;191;p3"/>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192" name="Google Shape;192;p3"/>
          <p:cNvSpPr txBox="1"/>
          <p:nvPr>
            <p:ph idx="1" type="body"/>
          </p:nvPr>
        </p:nvSpPr>
        <p:spPr>
          <a:xfrm>
            <a:off x="4167275" y="4073287"/>
            <a:ext cx="3435900" cy="847800"/>
          </a:xfrm>
          <a:prstGeom prst="rect">
            <a:avLst/>
          </a:prstGeom>
          <a:noFill/>
          <a:ln>
            <a:noFill/>
          </a:ln>
        </p:spPr>
        <p:txBody>
          <a:bodyPr anchorCtr="0" anchor="ctr" bIns="45700" lIns="91425" spcFirstLastPara="1" rIns="91425" wrap="square" tIns="45700">
            <a:normAutofit fontScale="55000" lnSpcReduction="20000"/>
          </a:bodyPr>
          <a:lstStyle/>
          <a:p>
            <a:pPr indent="0" lvl="0" marL="0" rtl="0" algn="l">
              <a:lnSpc>
                <a:spcPct val="90000"/>
              </a:lnSpc>
              <a:spcBef>
                <a:spcPts val="1000"/>
              </a:spcBef>
              <a:spcAft>
                <a:spcPts val="0"/>
              </a:spcAft>
              <a:buSzPct val="78142"/>
              <a:buNone/>
            </a:pPr>
            <a:r>
              <a:rPr lang="en-US" sz="3327">
                <a:solidFill>
                  <a:schemeClr val="lt1"/>
                </a:solidFill>
              </a:rPr>
              <a:t>Journey Map</a:t>
            </a:r>
            <a:endParaRPr sz="3327">
              <a:solidFill>
                <a:schemeClr val="lt1"/>
              </a:solidFill>
            </a:endParaRPr>
          </a:p>
          <a:p>
            <a:pPr indent="0" lvl="0" marL="0" rtl="0" algn="l">
              <a:lnSpc>
                <a:spcPct val="90000"/>
              </a:lnSpc>
              <a:spcBef>
                <a:spcPts val="1000"/>
              </a:spcBef>
              <a:spcAft>
                <a:spcPts val="0"/>
              </a:spcAft>
              <a:buSzPct val="100000"/>
              <a:buNone/>
            </a:pPr>
            <a:r>
              <a:t/>
            </a:r>
            <a:endParaRPr sz="2600"/>
          </a:p>
          <a:p>
            <a:pPr indent="0" lvl="0" marL="0" rtl="0" algn="l">
              <a:lnSpc>
                <a:spcPct val="90000"/>
              </a:lnSpc>
              <a:spcBef>
                <a:spcPts val="1000"/>
              </a:spcBef>
              <a:spcAft>
                <a:spcPts val="0"/>
              </a:spcAft>
              <a:buSzPct val="100000"/>
              <a:buNone/>
            </a:pPr>
            <a:r>
              <a:t/>
            </a:r>
            <a:endParaRPr sz="2600"/>
          </a:p>
        </p:txBody>
      </p:sp>
      <p:pic>
        <p:nvPicPr>
          <p:cNvPr id="193" name="Google Shape;193;p3" title="Blank diagram.png"/>
          <p:cNvPicPr preferRelativeResize="0"/>
          <p:nvPr/>
        </p:nvPicPr>
        <p:blipFill rotWithShape="1">
          <a:blip r:embed="rId4">
            <a:alphaModFix/>
          </a:blip>
          <a:srcRect b="7850" l="1811" r="1811" t="19795"/>
          <a:stretch/>
        </p:blipFill>
        <p:spPr>
          <a:xfrm>
            <a:off x="4167275" y="4371050"/>
            <a:ext cx="7131899" cy="1186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27"/>
          <p:cNvSpPr txBox="1"/>
          <p:nvPr/>
        </p:nvSpPr>
        <p:spPr>
          <a:xfrm>
            <a:off x="784350" y="1984550"/>
            <a:ext cx="10623300" cy="4579500"/>
          </a:xfrm>
          <a:prstGeom prst="rect">
            <a:avLst/>
          </a:prstGeom>
          <a:noFill/>
          <a:ln>
            <a:noFill/>
          </a:ln>
        </p:spPr>
        <p:txBody>
          <a:bodyPr anchorCtr="0" anchor="t" bIns="45700" lIns="45700" spcFirstLastPara="1" rIns="45700" wrap="square" tIns="45700">
            <a:noAutofit/>
          </a:bodyPr>
          <a:lstStyle/>
          <a:p>
            <a:pPr indent="0" lvl="0" marL="0" marR="0" rtl="0" algn="l">
              <a:lnSpc>
                <a:spcPct val="70000"/>
              </a:lnSpc>
              <a:spcBef>
                <a:spcPts val="0"/>
              </a:spcBef>
              <a:spcAft>
                <a:spcPts val="0"/>
              </a:spcAft>
              <a:buClr>
                <a:schemeClr val="accent1"/>
              </a:buClr>
              <a:buSzPts val="715"/>
              <a:buFont typeface="Arial"/>
              <a:buNone/>
            </a:pPr>
            <a:r>
              <a:rPr lang="en-US" sz="1415">
                <a:solidFill>
                  <a:schemeClr val="dk1"/>
                </a:solidFill>
                <a:latin typeface="Merriweather"/>
                <a:ea typeface="Merriweather"/>
                <a:cs typeface="Merriweather"/>
                <a:sym typeface="Merriweather"/>
              </a:rPr>
              <a:t>Executive Summary</a:t>
            </a:r>
            <a:endParaRPr sz="1470">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Data collection methodology:</a:t>
            </a:r>
            <a:endParaRPr sz="1470">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accent1"/>
              </a:buClr>
              <a:buSzPts val="1415"/>
              <a:buFont typeface="Merriweather"/>
              <a:buChar char="•"/>
            </a:pPr>
            <a:r>
              <a:rPr i="0" lang="en-US" sz="1415" u="none" cap="none" strike="noStrike">
                <a:solidFill>
                  <a:schemeClr val="dk1"/>
                </a:solidFill>
                <a:latin typeface="Merriweather"/>
                <a:ea typeface="Merriweather"/>
                <a:cs typeface="Merriweather"/>
                <a:sym typeface="Merriweather"/>
              </a:rPr>
              <a:t>Data </a:t>
            </a:r>
            <a:r>
              <a:rPr lang="en-US" sz="1415">
                <a:solidFill>
                  <a:schemeClr val="dk1"/>
                </a:solidFill>
                <a:latin typeface="Merriweather"/>
                <a:ea typeface="Merriweather"/>
                <a:cs typeface="Merriweather"/>
                <a:sym typeface="Merriweather"/>
              </a:rPr>
              <a:t>will be collected from </a:t>
            </a:r>
            <a:r>
              <a:rPr lang="en-US" sz="1415" u="sng">
                <a:solidFill>
                  <a:schemeClr val="hlink"/>
                </a:solidFill>
                <a:latin typeface="Merriweather"/>
                <a:ea typeface="Merriweather"/>
                <a:cs typeface="Merriweather"/>
                <a:sym typeface="Merriweather"/>
                <a:hlinkClick r:id="rId3"/>
              </a:rPr>
              <a:t>Polygon.io</a:t>
            </a:r>
            <a:r>
              <a:rPr lang="en-US" sz="1415">
                <a:solidFill>
                  <a:schemeClr val="dk1"/>
                </a:solidFill>
                <a:latin typeface="Merriweather"/>
                <a:ea typeface="Merriweather"/>
                <a:cs typeface="Merriweather"/>
                <a:sym typeface="Merriweather"/>
              </a:rPr>
              <a:t> API covering 10+ years of </a:t>
            </a:r>
            <a:r>
              <a:rPr lang="en-US" sz="1415">
                <a:solidFill>
                  <a:schemeClr val="dk1"/>
                </a:solidFill>
                <a:latin typeface="Merriweather"/>
                <a:ea typeface="Merriweather"/>
                <a:cs typeface="Merriweather"/>
                <a:sym typeface="Merriweather"/>
              </a:rPr>
              <a:t>daily</a:t>
            </a:r>
            <a:r>
              <a:rPr lang="en-US" sz="1415">
                <a:solidFill>
                  <a:schemeClr val="dk1"/>
                </a:solidFill>
                <a:latin typeface="Merriweather"/>
                <a:ea typeface="Merriweather"/>
                <a:cs typeface="Merriweather"/>
                <a:sym typeface="Merriweather"/>
              </a:rPr>
              <a:t> closing prices for the S&amp;P 500, NASDAQ, and Dow Jones indices</a:t>
            </a:r>
            <a:endParaRPr sz="1470">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Perform data wrangling</a:t>
            </a:r>
            <a:endParaRPr sz="1470">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Clean and format dataset using Python (Pandas), including cleaning nulls, aligning dates, and </a:t>
            </a:r>
            <a:r>
              <a:rPr lang="en-US" sz="1415">
                <a:solidFill>
                  <a:schemeClr val="dk1"/>
                </a:solidFill>
                <a:latin typeface="Merriweather"/>
                <a:ea typeface="Merriweather"/>
                <a:cs typeface="Merriweather"/>
                <a:sym typeface="Merriweather"/>
              </a:rPr>
              <a:t>normalizing</a:t>
            </a:r>
            <a:r>
              <a:rPr lang="en-US" sz="1415">
                <a:solidFill>
                  <a:schemeClr val="dk1"/>
                </a:solidFill>
                <a:latin typeface="Merriweather"/>
                <a:ea typeface="Merriweather"/>
                <a:cs typeface="Merriweather"/>
                <a:sym typeface="Merriweather"/>
              </a:rPr>
              <a:t> prices</a:t>
            </a:r>
            <a:endParaRPr sz="1470">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Perform exploratory data analysis (EDA)</a:t>
            </a:r>
            <a:endParaRPr sz="1415">
              <a:solidFill>
                <a:schemeClr val="dk1"/>
              </a:solidFill>
              <a:latin typeface="Merriweather"/>
              <a:ea typeface="Merriweather"/>
              <a:cs typeface="Merriweather"/>
              <a:sym typeface="Merriweather"/>
            </a:endParaRPr>
          </a:p>
          <a:p>
            <a:pPr indent="-318452" lvl="1" marL="9144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Conduct analysis to </a:t>
            </a:r>
            <a:r>
              <a:rPr lang="en-US" sz="1415">
                <a:solidFill>
                  <a:schemeClr val="dk1"/>
                </a:solidFill>
                <a:latin typeface="Merriweather"/>
                <a:ea typeface="Merriweather"/>
                <a:cs typeface="Merriweather"/>
                <a:sym typeface="Merriweather"/>
              </a:rPr>
              <a:t>understand</a:t>
            </a:r>
            <a:r>
              <a:rPr lang="en-US" sz="1415">
                <a:solidFill>
                  <a:schemeClr val="dk1"/>
                </a:solidFill>
                <a:latin typeface="Merriweather"/>
                <a:ea typeface="Merriweather"/>
                <a:cs typeface="Merriweather"/>
                <a:sym typeface="Merriweather"/>
              </a:rPr>
              <a:t> </a:t>
            </a:r>
            <a:r>
              <a:rPr lang="en-US" sz="1415">
                <a:solidFill>
                  <a:schemeClr val="dk1"/>
                </a:solidFill>
                <a:latin typeface="Merriweather"/>
                <a:ea typeface="Merriweather"/>
                <a:cs typeface="Merriweather"/>
                <a:sym typeface="Merriweather"/>
              </a:rPr>
              <a:t>historical</a:t>
            </a:r>
            <a:r>
              <a:rPr lang="en-US" sz="1415">
                <a:solidFill>
                  <a:schemeClr val="dk1"/>
                </a:solidFill>
                <a:latin typeface="Merriweather"/>
                <a:ea typeface="Merriweather"/>
                <a:cs typeface="Merriweather"/>
                <a:sym typeface="Merriweather"/>
              </a:rPr>
              <a:t> </a:t>
            </a:r>
            <a:r>
              <a:rPr lang="en-US" sz="1415">
                <a:solidFill>
                  <a:schemeClr val="dk1"/>
                </a:solidFill>
                <a:latin typeface="Merriweather"/>
                <a:ea typeface="Merriweather"/>
                <a:cs typeface="Merriweather"/>
                <a:sym typeface="Merriweather"/>
              </a:rPr>
              <a:t>performance</a:t>
            </a:r>
            <a:r>
              <a:rPr lang="en-US" sz="1415">
                <a:solidFill>
                  <a:schemeClr val="dk1"/>
                </a:solidFill>
                <a:latin typeface="Merriweather"/>
                <a:ea typeface="Merriweather"/>
                <a:cs typeface="Merriweather"/>
                <a:sym typeface="Merriweather"/>
              </a:rPr>
              <a:t>, volatility, and inter-index relationships</a:t>
            </a:r>
            <a:endParaRPr sz="1415">
              <a:solidFill>
                <a:schemeClr val="dk1"/>
              </a:solidFill>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Modeling Approach</a:t>
            </a:r>
            <a:endParaRPr sz="1415">
              <a:solidFill>
                <a:schemeClr val="dk1"/>
              </a:solidFill>
              <a:latin typeface="Merriweather"/>
              <a:ea typeface="Merriweather"/>
              <a:cs typeface="Merriweather"/>
              <a:sym typeface="Merriweather"/>
            </a:endParaRPr>
          </a:p>
          <a:p>
            <a:pPr indent="-318452" lvl="1" marL="9144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Apply Machine Learning </a:t>
            </a:r>
            <a:r>
              <a:rPr lang="en-US" sz="1415">
                <a:solidFill>
                  <a:schemeClr val="dk1"/>
                </a:solidFill>
                <a:latin typeface="Merriweather"/>
                <a:ea typeface="Merriweather"/>
                <a:cs typeface="Merriweather"/>
                <a:sym typeface="Merriweather"/>
              </a:rPr>
              <a:t>techniques</a:t>
            </a:r>
            <a:r>
              <a:rPr lang="en-US" sz="1415">
                <a:solidFill>
                  <a:schemeClr val="dk1"/>
                </a:solidFill>
                <a:latin typeface="Merriweather"/>
                <a:ea typeface="Merriweather"/>
                <a:cs typeface="Merriweather"/>
                <a:sym typeface="Merriweather"/>
              </a:rPr>
              <a:t> (scikit-learn) to forecast future </a:t>
            </a:r>
            <a:r>
              <a:rPr lang="en-US" sz="1415">
                <a:solidFill>
                  <a:schemeClr val="dk1"/>
                </a:solidFill>
                <a:latin typeface="Merriweather"/>
                <a:ea typeface="Merriweather"/>
                <a:cs typeface="Merriweather"/>
                <a:sym typeface="Merriweather"/>
              </a:rPr>
              <a:t>performance based on historical closing prices</a:t>
            </a:r>
            <a:endParaRPr sz="1415">
              <a:solidFill>
                <a:schemeClr val="dk1"/>
              </a:solidFill>
              <a:latin typeface="Merriweather"/>
              <a:ea typeface="Merriweather"/>
              <a:cs typeface="Merriweather"/>
              <a:sym typeface="Merriweather"/>
            </a:endParaRPr>
          </a:p>
          <a:p>
            <a:pPr indent="-318452" lvl="1" marL="9144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Train and validate the model using R</a:t>
            </a:r>
            <a:r>
              <a:rPr baseline="30000" lang="en-US" sz="1415">
                <a:solidFill>
                  <a:schemeClr val="dk1"/>
                </a:solidFill>
                <a:latin typeface="Merriweather"/>
                <a:ea typeface="Merriweather"/>
                <a:cs typeface="Merriweather"/>
                <a:sym typeface="Merriweather"/>
              </a:rPr>
              <a:t>2</a:t>
            </a:r>
            <a:r>
              <a:rPr lang="en-US" sz="1415">
                <a:solidFill>
                  <a:schemeClr val="dk1"/>
                </a:solidFill>
                <a:latin typeface="Merriweather"/>
                <a:ea typeface="Merriweather"/>
                <a:cs typeface="Merriweather"/>
                <a:sym typeface="Merriweather"/>
              </a:rPr>
              <a:t> (variance) and RMSE (average prediction error) as metrics</a:t>
            </a:r>
            <a:endParaRPr sz="1415">
              <a:solidFill>
                <a:schemeClr val="dk1"/>
              </a:solidFill>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Visualization and Insights</a:t>
            </a:r>
            <a:endParaRPr sz="1470">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Build interactive Tableau dashboards to visualize predicted growth, stability, and returns for all three indices</a:t>
            </a:r>
            <a:endParaRPr sz="1415">
              <a:solidFill>
                <a:schemeClr val="dk1"/>
              </a:solidFill>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Present key </a:t>
            </a:r>
            <a:r>
              <a:rPr lang="en-US" sz="1415">
                <a:solidFill>
                  <a:schemeClr val="dk1"/>
                </a:solidFill>
                <a:latin typeface="Merriweather"/>
                <a:ea typeface="Merriweather"/>
                <a:cs typeface="Merriweather"/>
                <a:sym typeface="Merriweather"/>
              </a:rPr>
              <a:t>investment</a:t>
            </a:r>
            <a:r>
              <a:rPr lang="en-US" sz="1415">
                <a:solidFill>
                  <a:schemeClr val="dk1"/>
                </a:solidFill>
                <a:latin typeface="Merriweather"/>
                <a:ea typeface="Merriweather"/>
                <a:cs typeface="Merriweather"/>
                <a:sym typeface="Merriweather"/>
              </a:rPr>
              <a:t> insights</a:t>
            </a:r>
            <a:endParaRPr sz="1415">
              <a:solidFill>
                <a:schemeClr val="dk1"/>
              </a:solidFill>
              <a:latin typeface="Merriweather"/>
              <a:ea typeface="Merriweather"/>
              <a:cs typeface="Merriweather"/>
              <a:sym typeface="Merriweather"/>
            </a:endParaRPr>
          </a:p>
        </p:txBody>
      </p:sp>
      <p:sp>
        <p:nvSpPr>
          <p:cNvPr id="200" name="Google Shape;200;p27"/>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201" name="Google Shape;201;p27"/>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METHODOLOGY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6fc5189105_2_0"/>
          <p:cNvSpPr txBox="1"/>
          <p:nvPr/>
        </p:nvSpPr>
        <p:spPr>
          <a:xfrm>
            <a:off x="611675" y="352900"/>
            <a:ext cx="10892700" cy="163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700">
                <a:solidFill>
                  <a:schemeClr val="dk1"/>
                </a:solidFill>
                <a:latin typeface="Merriweather"/>
                <a:ea typeface="Merriweather"/>
                <a:cs typeface="Merriweather"/>
                <a:sym typeface="Merriweather"/>
              </a:rPr>
              <a:t>Which Machine Learning Techniques to apply?</a:t>
            </a:r>
            <a:endParaRPr sz="4700">
              <a:solidFill>
                <a:schemeClr val="dk1"/>
              </a:solidFill>
              <a:latin typeface="Merriweather"/>
              <a:ea typeface="Merriweather"/>
              <a:cs typeface="Merriweather"/>
              <a:sym typeface="Merriweather"/>
            </a:endParaRPr>
          </a:p>
        </p:txBody>
      </p:sp>
      <p:sp>
        <p:nvSpPr>
          <p:cNvPr id="208" name="Google Shape;208;g36fc5189105_2_0"/>
          <p:cNvSpPr txBox="1"/>
          <p:nvPr/>
        </p:nvSpPr>
        <p:spPr>
          <a:xfrm>
            <a:off x="976350" y="2470300"/>
            <a:ext cx="8822400" cy="36585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Merriweather"/>
              <a:buChar char="●"/>
            </a:pPr>
            <a:r>
              <a:rPr lang="en-US" sz="2200">
                <a:solidFill>
                  <a:schemeClr val="dk1"/>
                </a:solidFill>
                <a:latin typeface="Merriweather"/>
                <a:ea typeface="Merriweather"/>
                <a:cs typeface="Merriweather"/>
                <a:sym typeface="Merriweather"/>
              </a:rPr>
              <a:t>Linear Regression</a:t>
            </a:r>
            <a:endParaRPr sz="2200">
              <a:solidFill>
                <a:schemeClr val="dk1"/>
              </a:solidFill>
              <a:latin typeface="Merriweather"/>
              <a:ea typeface="Merriweather"/>
              <a:cs typeface="Merriweather"/>
              <a:sym typeface="Merriweather"/>
            </a:endParaRPr>
          </a:p>
          <a:p>
            <a:pPr indent="-368300" lvl="0" marL="457200" rtl="0" algn="l">
              <a:spcBef>
                <a:spcPts val="0"/>
              </a:spcBef>
              <a:spcAft>
                <a:spcPts val="0"/>
              </a:spcAft>
              <a:buClr>
                <a:schemeClr val="dk1"/>
              </a:buClr>
              <a:buSzPts val="2200"/>
              <a:buFont typeface="Merriweather"/>
              <a:buChar char="●"/>
            </a:pPr>
            <a:r>
              <a:rPr lang="en-US" sz="2200">
                <a:solidFill>
                  <a:schemeClr val="dk1"/>
                </a:solidFill>
                <a:latin typeface="Merriweather"/>
                <a:ea typeface="Merriweather"/>
                <a:cs typeface="Merriweather"/>
                <a:sym typeface="Merriweather"/>
              </a:rPr>
              <a:t>Recurrent Neural Networks</a:t>
            </a:r>
            <a:endParaRPr sz="2200">
              <a:solidFill>
                <a:schemeClr val="dk1"/>
              </a:solidFill>
              <a:latin typeface="Merriweather"/>
              <a:ea typeface="Merriweather"/>
              <a:cs typeface="Merriweather"/>
              <a:sym typeface="Merriweather"/>
            </a:endParaRPr>
          </a:p>
          <a:p>
            <a:pPr indent="-368300" lvl="0" marL="457200" rtl="0" algn="l">
              <a:spcBef>
                <a:spcPts val="0"/>
              </a:spcBef>
              <a:spcAft>
                <a:spcPts val="0"/>
              </a:spcAft>
              <a:buClr>
                <a:schemeClr val="dk1"/>
              </a:buClr>
              <a:buSzPts val="2200"/>
              <a:buFont typeface="Merriweather"/>
              <a:buChar char="●"/>
            </a:pPr>
            <a:r>
              <a:rPr lang="en-US" sz="2200">
                <a:solidFill>
                  <a:schemeClr val="dk1"/>
                </a:solidFill>
                <a:latin typeface="Merriweather"/>
                <a:ea typeface="Merriweather"/>
                <a:cs typeface="Merriweather"/>
                <a:sym typeface="Merriweather"/>
              </a:rPr>
              <a:t>Random Forests</a:t>
            </a:r>
            <a:endParaRPr sz="2200">
              <a:solidFill>
                <a:schemeClr val="dk1"/>
              </a:solidFill>
              <a:latin typeface="Merriweather"/>
              <a:ea typeface="Merriweather"/>
              <a:cs typeface="Merriweather"/>
              <a:sym typeface="Merriweath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cxnSp>
        <p:nvCxnSpPr>
          <p:cNvPr id="214" name="Google Shape;214;g36fc104f747_1_62"/>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15" name="Google Shape;215;g36fc104f747_1_62"/>
          <p:cNvSpPr txBox="1"/>
          <p:nvPr/>
        </p:nvSpPr>
        <p:spPr>
          <a:xfrm>
            <a:off x="1024128" y="585216"/>
            <a:ext cx="8018400" cy="14997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0C0C0C"/>
              </a:buClr>
              <a:buSzPts val="5000"/>
              <a:buFont typeface="Twentieth Century"/>
              <a:buNone/>
            </a:pPr>
            <a:r>
              <a:rPr lang="en-US" sz="5000">
                <a:solidFill>
                  <a:srgbClr val="0C0C0C"/>
                </a:solidFill>
                <a:latin typeface="Merriweather"/>
                <a:ea typeface="Merriweather"/>
                <a:cs typeface="Merriweather"/>
                <a:sym typeface="Merriweather"/>
              </a:rPr>
              <a:t>Why Linear Regression?</a:t>
            </a:r>
            <a:endParaRPr>
              <a:latin typeface="Merriweather"/>
              <a:ea typeface="Merriweather"/>
              <a:cs typeface="Merriweather"/>
              <a:sym typeface="Merriweather"/>
            </a:endParaRPr>
          </a:p>
        </p:txBody>
      </p:sp>
      <p:sp>
        <p:nvSpPr>
          <p:cNvPr id="216" name="Google Shape;216;g36fc104f747_1_62"/>
          <p:cNvSpPr txBox="1"/>
          <p:nvPr/>
        </p:nvSpPr>
        <p:spPr>
          <a:xfrm>
            <a:off x="472000" y="1984550"/>
            <a:ext cx="8787600" cy="4285200"/>
          </a:xfrm>
          <a:prstGeom prst="rect">
            <a:avLst/>
          </a:prstGeom>
          <a:noFill/>
          <a:ln>
            <a:noFill/>
          </a:ln>
        </p:spPr>
        <p:txBody>
          <a:bodyPr anchorCtr="0" anchor="t" bIns="45700" lIns="45700" spcFirstLastPara="1" rIns="45700" wrap="square" tIns="45700">
            <a:noAutofit/>
          </a:bodyPr>
          <a:lstStyle/>
          <a:p>
            <a:pPr indent="-324802" lvl="0" marL="457200" marR="0" rtl="0" algn="l">
              <a:lnSpc>
                <a:spcPct val="150000"/>
              </a:lnSpc>
              <a:spcBef>
                <a:spcPts val="140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Predicts Trends Over Time</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Can model long-term index movement using historical closing prices.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Works Well With Continuous Data</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Ideal for forecasting numerical outputs like index prices or returns.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Interpretable Results</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Model coefficients show how past performance impacts future trends.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Low Complexity, High Transparency</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Easier to validate and explain than black-box models.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Baseline Model</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Serves as a benchmark before testing advanced methods.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Cons</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Simplicity, hard to model volatility </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Assumes a linear relationship between variables</a:t>
            </a:r>
            <a:endParaRPr sz="1515">
              <a:solidFill>
                <a:schemeClr val="dk1"/>
              </a:solidFill>
              <a:latin typeface="Merriweather"/>
              <a:ea typeface="Merriweather"/>
              <a:cs typeface="Merriweather"/>
              <a:sym typeface="Merriweather"/>
            </a:endParaRPr>
          </a:p>
          <a:p>
            <a:pPr indent="0" lvl="0" marL="0" marR="0" rtl="0" algn="l">
              <a:lnSpc>
                <a:spcPct val="150000"/>
              </a:lnSpc>
              <a:spcBef>
                <a:spcPts val="1400"/>
              </a:spcBef>
              <a:spcAft>
                <a:spcPts val="0"/>
              </a:spcAft>
              <a:buNone/>
            </a:pPr>
            <a:r>
              <a:rPr lang="en-US" sz="1515">
                <a:solidFill>
                  <a:schemeClr val="dk1"/>
                </a:solidFill>
                <a:latin typeface="Merriweather"/>
                <a:ea typeface="Merriweather"/>
                <a:cs typeface="Merriweather"/>
                <a:sym typeface="Merriweather"/>
              </a:rPr>
              <a:t>	</a:t>
            </a:r>
            <a:endParaRPr sz="1515">
              <a:solidFill>
                <a:schemeClr val="dk1"/>
              </a:solidFill>
              <a:latin typeface="Merriweather"/>
              <a:ea typeface="Merriweather"/>
              <a:cs typeface="Merriweather"/>
              <a:sym typeface="Merriweather"/>
            </a:endParaRPr>
          </a:p>
          <a:p>
            <a:pPr indent="0" lvl="0" marL="914400" marR="0" rtl="0" algn="l">
              <a:lnSpc>
                <a:spcPct val="150000"/>
              </a:lnSpc>
              <a:spcBef>
                <a:spcPts val="1400"/>
              </a:spcBef>
              <a:spcAft>
                <a:spcPts val="0"/>
              </a:spcAft>
              <a:buNone/>
            </a:pPr>
            <a:r>
              <a:t/>
            </a:r>
            <a:endParaRPr sz="1515">
              <a:solidFill>
                <a:schemeClr val="dk1"/>
              </a:solidFill>
              <a:latin typeface="Merriweather"/>
              <a:ea typeface="Merriweather"/>
              <a:cs typeface="Merriweather"/>
              <a:sym typeface="Merriweather"/>
            </a:endParaRPr>
          </a:p>
        </p:txBody>
      </p:sp>
      <p:sp>
        <p:nvSpPr>
          <p:cNvPr id="217" name="Google Shape;217;g36fc104f747_1_62"/>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p>
            <a:pPr indent="0" lvl="0" marL="0" rtl="0" algn="l">
              <a:spcBef>
                <a:spcPts val="0"/>
              </a:spcBef>
              <a:spcAft>
                <a:spcPts val="0"/>
              </a:spcAft>
              <a:buClr>
                <a:srgbClr val="000000"/>
              </a:buClr>
              <a:buFont typeface="Arial"/>
              <a:buNone/>
            </a:pPr>
            <a:fld id="{00000000-1234-1234-1234-123412341234}" type="slidenum">
              <a:rPr lang="en-US" sz="1300">
                <a:solidFill>
                  <a:schemeClr val="dk2"/>
                </a:solidFill>
                <a:latin typeface="Roboto"/>
                <a:ea typeface="Roboto"/>
                <a:cs typeface="Roboto"/>
                <a:sym typeface="Roboto"/>
              </a:rPr>
              <a:t>‹#›</a:t>
            </a:fld>
            <a:endParaRPr sz="1300">
              <a:solidFill>
                <a:schemeClr val="dk2"/>
              </a:solidFill>
              <a:latin typeface="Roboto"/>
              <a:ea typeface="Roboto"/>
              <a:cs typeface="Roboto"/>
              <a:sym typeface="Roboto"/>
            </a:endParaRPr>
          </a:p>
        </p:txBody>
      </p:sp>
      <p:pic>
        <p:nvPicPr>
          <p:cNvPr id="218" name="Google Shape;218;g36fc104f747_1_62"/>
          <p:cNvPicPr preferRelativeResize="0"/>
          <p:nvPr/>
        </p:nvPicPr>
        <p:blipFill rotWithShape="1">
          <a:blip r:embed="rId3">
            <a:alphaModFix/>
          </a:blip>
          <a:srcRect b="0" l="24989" r="27789" t="23254"/>
          <a:stretch/>
        </p:blipFill>
        <p:spPr>
          <a:xfrm>
            <a:off x="7999824" y="1740725"/>
            <a:ext cx="4026825" cy="3925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6fc5189105_2_15"/>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Recurrent Neural Networks (RNN)</a:t>
            </a:r>
            <a:endParaRPr/>
          </a:p>
        </p:txBody>
      </p:sp>
      <p:sp>
        <p:nvSpPr>
          <p:cNvPr id="225" name="Google Shape;225;g36fc5189105_2_15"/>
          <p:cNvSpPr txBox="1"/>
          <p:nvPr>
            <p:ph idx="1" type="body"/>
          </p:nvPr>
        </p:nvSpPr>
        <p:spPr>
          <a:xfrm>
            <a:off x="624725" y="2084925"/>
            <a:ext cx="11161500" cy="4023300"/>
          </a:xfrm>
          <a:prstGeom prst="rect">
            <a:avLst/>
          </a:prstGeom>
        </p:spPr>
        <p:txBody>
          <a:bodyPr anchorCtr="0" anchor="t" bIns="45700" lIns="45700" spcFirstLastPara="1" rIns="45700" wrap="square" tIns="45700">
            <a:noAutofit/>
          </a:bodyPr>
          <a:lstStyle/>
          <a:p>
            <a:pPr indent="-349250" lvl="0" marL="457200" rtl="0" algn="l">
              <a:lnSpc>
                <a:spcPct val="115000"/>
              </a:lnSpc>
              <a:spcBef>
                <a:spcPts val="1200"/>
              </a:spcBef>
              <a:spcAft>
                <a:spcPts val="0"/>
              </a:spcAft>
              <a:buSzPts val="1900"/>
              <a:buFont typeface="Merriweather"/>
              <a:buChar char="●"/>
            </a:pPr>
            <a:r>
              <a:rPr lang="en-US" sz="1900">
                <a:latin typeface="Merriweather"/>
                <a:ea typeface="Merriweather"/>
                <a:cs typeface="Merriweather"/>
                <a:sym typeface="Merriweather"/>
              </a:rPr>
              <a:t>Captures Temporal Dependencies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Learns from sequential patterns in time-series data like stock prices or returns.</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Handles Nonlinear Relationships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Can model complex, nonlinear trends and interactions better than linear regression.</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Adapts to Context and Memory</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Retains information from previous time steps, improving short-term forecasting accuracy.</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Integrates Multiple Inputs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Can incorporate additional features such as trading volume, sentiment, or macroeconomic data.</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Cons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Requires large datasets and significant training time. Prone to overfitting and sensitive to hyperparameter tuning.</a:t>
            </a:r>
            <a:endParaRPr sz="2100">
              <a:latin typeface="Merriweather"/>
              <a:ea typeface="Merriweather"/>
              <a:cs typeface="Merriweather"/>
              <a:sym typeface="Merriweath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6fc5189105_2_22"/>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Random Forests? </a:t>
            </a:r>
            <a:endParaRPr/>
          </a:p>
        </p:txBody>
      </p:sp>
      <p:sp>
        <p:nvSpPr>
          <p:cNvPr id="232" name="Google Shape;232;g36fc5189105_2_22"/>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lnSpcReduction="10000"/>
          </a:bodyPr>
          <a:lstStyle/>
          <a:p>
            <a:pPr indent="-323850" lvl="0" marL="457200" rtl="0" algn="l">
              <a:lnSpc>
                <a:spcPct val="115000"/>
              </a:lnSpc>
              <a:spcBef>
                <a:spcPts val="1200"/>
              </a:spcBef>
              <a:spcAft>
                <a:spcPts val="0"/>
              </a:spcAft>
              <a:buSzPts val="1500"/>
              <a:buFont typeface="Merriweather"/>
              <a:buChar char="●"/>
            </a:pPr>
            <a:r>
              <a:rPr lang="en-US" sz="1500">
                <a:latin typeface="Merriweather"/>
                <a:ea typeface="Merriweather"/>
                <a:cs typeface="Merriweather"/>
                <a:sym typeface="Merriweather"/>
              </a:rPr>
              <a:t>Captures Nonlinear Relationships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Models complex interactions between features without assuming linearity.</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Robust to Noise and Outliers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Ensemble of decision trees averages results, reducing sensitivity to extreme values.</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Feature Importance Insights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Provides interpretable rankings of which factors most influence stock price movements.</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Handles High-Dimensional Data</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Performs well even when using many correlated financial indicators or technical metrics.</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Good Generalization</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Less likely to overfit compared to single decision trees, offering stable performance on unseen data.</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Cons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Limited ability to capture temporal dependencies; treats time steps as independent observations. Computationally expensive for large datasets.</a:t>
            </a:r>
            <a:endParaRPr sz="1500">
              <a:latin typeface="Merriweather"/>
              <a:ea typeface="Merriweather"/>
              <a:cs typeface="Merriweather"/>
              <a:sym typeface="Merriweather"/>
            </a:endParaRPr>
          </a:p>
          <a:p>
            <a:pPr indent="0" lvl="0" marL="0" rtl="0" algn="l">
              <a:spcBef>
                <a:spcPts val="1200"/>
              </a:spcBef>
              <a:spcAft>
                <a:spcPts val="200"/>
              </a:spcAft>
              <a:buNone/>
            </a:pPr>
            <a:r>
              <a:t/>
            </a:r>
            <a:endParaRPr>
              <a:latin typeface="Merriweather"/>
              <a:ea typeface="Merriweather"/>
              <a:cs typeface="Merriweather"/>
              <a:sym typeface="Merriweath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6fc5189105_2_29"/>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Monte Carlo Simulations</a:t>
            </a:r>
            <a:endParaRPr/>
          </a:p>
        </p:txBody>
      </p:sp>
      <p:sp>
        <p:nvSpPr>
          <p:cNvPr id="239" name="Google Shape;239;g36fc5189105_2_29"/>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fontScale="85000" lnSpcReduction="20000"/>
          </a:bodyPr>
          <a:lstStyle/>
          <a:p>
            <a:pPr indent="-336987" lvl="0" marL="457200" rtl="0" algn="l">
              <a:lnSpc>
                <a:spcPct val="115000"/>
              </a:lnSpc>
              <a:spcBef>
                <a:spcPts val="1200"/>
              </a:spcBef>
              <a:spcAft>
                <a:spcPts val="0"/>
              </a:spcAft>
              <a:buSzPct val="100000"/>
              <a:buFont typeface="Merriweather"/>
              <a:buChar char="●"/>
            </a:pPr>
            <a:r>
              <a:rPr lang="en-US" sz="2008">
                <a:latin typeface="Merriweather"/>
                <a:ea typeface="Merriweather"/>
                <a:cs typeface="Merriweather"/>
                <a:sym typeface="Merriweather"/>
              </a:rPr>
              <a:t>Quantifies Prediction Uncertainty</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Runs thousands of randomized simulations to estimate a range of possible outcomes instead of a single value.</a:t>
            </a:r>
            <a:endParaRPr sz="2008">
              <a:latin typeface="Merriweather"/>
              <a:ea typeface="Merriweather"/>
              <a:cs typeface="Merriweather"/>
              <a:sym typeface="Merriweather"/>
            </a:endParaRPr>
          </a:p>
          <a:p>
            <a:pPr indent="-336987" lvl="0" marL="4572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Captures Market Volatility</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Models randomness in stock returns, volatility, or interest rates to reflect real-world fluctuations.</a:t>
            </a:r>
            <a:endParaRPr sz="2008">
              <a:latin typeface="Merriweather"/>
              <a:ea typeface="Merriweather"/>
              <a:cs typeface="Merriweather"/>
              <a:sym typeface="Merriweather"/>
            </a:endParaRPr>
          </a:p>
          <a:p>
            <a:pPr indent="-336987" lvl="0" marL="4572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Averages Model Estimates</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Generates a probability distribution of predictions, helping identify expected value and confidence intervals.</a:t>
            </a:r>
            <a:endParaRPr sz="2008">
              <a:latin typeface="Merriweather"/>
              <a:ea typeface="Merriweather"/>
              <a:cs typeface="Merriweather"/>
              <a:sym typeface="Merriweather"/>
            </a:endParaRPr>
          </a:p>
          <a:p>
            <a:pPr indent="-336987" lvl="0" marL="4572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Supports Risk Assessment</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Used to estimate Value at Risk (VaR), expected shortfall, and other probabilistic risk measures.</a:t>
            </a:r>
            <a:endParaRPr sz="2008">
              <a:latin typeface="Merriweather"/>
              <a:ea typeface="Merriweather"/>
              <a:cs typeface="Merriweather"/>
              <a:sym typeface="Merriweather"/>
            </a:endParaRPr>
          </a:p>
          <a:p>
            <a:pPr indent="0" lvl="0" marL="457200" rtl="0" algn="l">
              <a:lnSpc>
                <a:spcPct val="115000"/>
              </a:lnSpc>
              <a:spcBef>
                <a:spcPts val="1200"/>
              </a:spcBef>
              <a:spcAft>
                <a:spcPts val="0"/>
              </a:spcAft>
              <a:buNone/>
            </a:pPr>
            <a:r>
              <a:t/>
            </a:r>
            <a:endParaRPr sz="1600">
              <a:latin typeface="Merriweather"/>
              <a:ea typeface="Merriweather"/>
              <a:cs typeface="Merriweather"/>
              <a:sym typeface="Merriweather"/>
            </a:endParaRPr>
          </a:p>
          <a:p>
            <a:pPr indent="0" lvl="0" marL="0" rtl="0" algn="l">
              <a:spcBef>
                <a:spcPts val="1200"/>
              </a:spcBef>
              <a:spcAft>
                <a:spcPts val="200"/>
              </a:spcAft>
              <a:buNone/>
            </a:pPr>
            <a:r>
              <a:t/>
            </a:r>
            <a:endParaRPr>
              <a:latin typeface="Merriweather"/>
              <a:ea typeface="Merriweather"/>
              <a:cs typeface="Merriweather"/>
              <a:sym typeface="Merriweath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28"/>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45" name="Google Shape;245;p2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46" name="Google Shape;246;p2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47" name="Google Shape;247;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48" name="Google Shape;248;p28"/>
          <p:cNvSpPr/>
          <p:nvPr/>
        </p:nvSpPr>
        <p:spPr>
          <a:xfrm>
            <a:off x="466928" y="484632"/>
            <a:ext cx="11244036"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49" name="Google Shape;249;p28"/>
          <p:cNvSpPr txBox="1"/>
          <p:nvPr>
            <p:ph type="title"/>
          </p:nvPr>
        </p:nvSpPr>
        <p:spPr>
          <a:xfrm>
            <a:off x="4365356" y="806365"/>
            <a:ext cx="7020747" cy="522963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6600"/>
              <a:buFont typeface="Twentieth Century"/>
              <a:buNone/>
            </a:pPr>
            <a:r>
              <a:rPr lang="en-US" sz="6600"/>
              <a:t>DATASET</a:t>
            </a:r>
            <a:endParaRPr sz="6600"/>
          </a:p>
        </p:txBody>
      </p:sp>
      <p:cxnSp>
        <p:nvCxnSpPr>
          <p:cNvPr id="250" name="Google Shape;250;p28"/>
          <p:cNvCxnSpPr/>
          <p:nvPr/>
        </p:nvCxnSpPr>
        <p:spPr>
          <a:xfrm>
            <a:off x="4059935" y="1600200"/>
            <a:ext cx="0" cy="36576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cxnSp>
        <p:nvCxnSpPr>
          <p:cNvPr id="255" name="Google Shape;255;p29"/>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56" name="Google Shape;256;p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7" name="Google Shape;257;p29"/>
          <p:cNvSpPr txBox="1"/>
          <p:nvPr/>
        </p:nvSpPr>
        <p:spPr>
          <a:xfrm>
            <a:off x="402600" y="804300"/>
            <a:ext cx="4065000" cy="5249400"/>
          </a:xfrm>
          <a:prstGeom prst="rect">
            <a:avLst/>
          </a:prstGeom>
          <a:noFill/>
          <a:ln>
            <a:noFill/>
          </a:ln>
        </p:spPr>
        <p:txBody>
          <a:bodyPr anchorCtr="0" anchor="ctr" bIns="45700" lIns="91425" spcFirstLastPara="1" rIns="91425" wrap="square" tIns="45700">
            <a:normAutofit/>
          </a:bodyPr>
          <a:lstStyle/>
          <a:p>
            <a:pPr indent="0" lvl="0" marL="0" marR="0" rtl="0" algn="r">
              <a:lnSpc>
                <a:spcPct val="80000"/>
              </a:lnSpc>
              <a:spcBef>
                <a:spcPts val="0"/>
              </a:spcBef>
              <a:spcAft>
                <a:spcPts val="0"/>
              </a:spcAft>
              <a:buClr>
                <a:srgbClr val="0C0C0C"/>
              </a:buClr>
              <a:buSzPts val="5000"/>
              <a:buFont typeface="Twentieth Century"/>
              <a:buNone/>
            </a:pPr>
            <a:r>
              <a:rPr lang="en-US" sz="4700" cap="none">
                <a:solidFill>
                  <a:srgbClr val="0C0C0C"/>
                </a:solidFill>
                <a:latin typeface="Merriweather"/>
                <a:ea typeface="Merriweather"/>
                <a:cs typeface="Merriweather"/>
                <a:sym typeface="Merriweather"/>
              </a:rPr>
              <a:t>DATA COLLECTION</a:t>
            </a:r>
            <a:endParaRPr sz="1100">
              <a:latin typeface="Merriweather"/>
              <a:ea typeface="Merriweather"/>
              <a:cs typeface="Merriweather"/>
              <a:sym typeface="Merriweather"/>
            </a:endParaRPr>
          </a:p>
        </p:txBody>
      </p:sp>
      <p:cxnSp>
        <p:nvCxnSpPr>
          <p:cNvPr id="258" name="Google Shape;258;p29"/>
          <p:cNvCxnSpPr/>
          <p:nvPr/>
        </p:nvCxnSpPr>
        <p:spPr>
          <a:xfrm>
            <a:off x="4677597" y="1600200"/>
            <a:ext cx="0" cy="3657600"/>
          </a:xfrm>
          <a:prstGeom prst="straightConnector1">
            <a:avLst/>
          </a:prstGeom>
          <a:noFill/>
          <a:ln cap="flat" cmpd="sng" w="19050">
            <a:solidFill>
              <a:schemeClr val="accent1"/>
            </a:solidFill>
            <a:prstDash val="solid"/>
            <a:round/>
            <a:headEnd len="sm" w="sm" type="none"/>
            <a:tailEnd len="sm" w="sm" type="none"/>
          </a:ln>
        </p:spPr>
      </p:cxnSp>
      <p:sp>
        <p:nvSpPr>
          <p:cNvPr id="259" name="Google Shape;259;p29"/>
          <p:cNvSpPr txBox="1"/>
          <p:nvPr>
            <p:ph idx="4294967295" type="body"/>
          </p:nvPr>
        </p:nvSpPr>
        <p:spPr>
          <a:xfrm>
            <a:off x="4999330" y="804333"/>
            <a:ext cx="6257721" cy="5249334"/>
          </a:xfrm>
          <a:prstGeom prst="rect">
            <a:avLst/>
          </a:prstGeom>
          <a:noFill/>
          <a:ln>
            <a:noFill/>
          </a:ln>
        </p:spPr>
        <p:txBody>
          <a:bodyPr anchorCtr="0" anchor="ctr" bIns="45700" lIns="45700" spcFirstLastPara="1" rIns="45700" wrap="square" tIns="45700">
            <a:normAutofit/>
          </a:bodyPr>
          <a:lstStyle/>
          <a:p>
            <a:pPr indent="-22859" lvl="1" marL="265176" rtl="0" algn="l">
              <a:lnSpc>
                <a:spcPct val="90000"/>
              </a:lnSpc>
              <a:spcBef>
                <a:spcPts val="1000"/>
              </a:spcBef>
              <a:spcAft>
                <a:spcPts val="0"/>
              </a:spcAft>
              <a:buSzPts val="1800"/>
              <a:buFont typeface="Twentieth Century"/>
              <a:buNone/>
            </a:pPr>
            <a:r>
              <a:rPr lang="en-US" sz="2200">
                <a:latin typeface="Merriweather"/>
                <a:ea typeface="Merriweather"/>
                <a:cs typeface="Merriweather"/>
                <a:sym typeface="Merriweather"/>
              </a:rPr>
              <a:t>We plan to collect our data using live financial APIs</a:t>
            </a:r>
            <a:endParaRPr sz="2200">
              <a:latin typeface="Merriweather"/>
              <a:ea typeface="Merriweather"/>
              <a:cs typeface="Merriweather"/>
              <a:sym typeface="Merriweather"/>
            </a:endParaRPr>
          </a:p>
          <a:p>
            <a:pPr indent="-368300" lvl="0" marL="457200" rtl="0" algn="l">
              <a:lnSpc>
                <a:spcPct val="90000"/>
              </a:lnSpc>
              <a:spcBef>
                <a:spcPts val="1000"/>
              </a:spcBef>
              <a:spcAft>
                <a:spcPts val="0"/>
              </a:spcAft>
              <a:buSzPts val="2200"/>
              <a:buFont typeface="Merriweather"/>
              <a:buChar char="●"/>
            </a:pPr>
            <a:r>
              <a:rPr lang="en-US">
                <a:latin typeface="Merriweather"/>
                <a:ea typeface="Merriweather"/>
                <a:cs typeface="Merriweather"/>
                <a:sym typeface="Merriweather"/>
              </a:rPr>
              <a:t>Using GET requests to the </a:t>
            </a:r>
            <a:r>
              <a:rPr lang="en-US" u="sng">
                <a:solidFill>
                  <a:schemeClr val="hlink"/>
                </a:solidFill>
                <a:latin typeface="Merriweather"/>
                <a:ea typeface="Merriweather"/>
                <a:cs typeface="Merriweather"/>
                <a:sym typeface="Merriweather"/>
                <a:hlinkClick r:id="rId3"/>
              </a:rPr>
              <a:t>Polygon.io</a:t>
            </a:r>
            <a:r>
              <a:rPr lang="en-US">
                <a:latin typeface="Merriweather"/>
                <a:ea typeface="Merriweather"/>
                <a:cs typeface="Merriweather"/>
                <a:sym typeface="Merriweather"/>
              </a:rPr>
              <a:t> API, we will </a:t>
            </a:r>
            <a:r>
              <a:rPr lang="en-US">
                <a:latin typeface="Merriweather"/>
                <a:ea typeface="Merriweather"/>
                <a:cs typeface="Merriweather"/>
                <a:sym typeface="Merriweather"/>
              </a:rPr>
              <a:t>retrieve</a:t>
            </a:r>
            <a:r>
              <a:rPr lang="en-US">
                <a:latin typeface="Merriweather"/>
                <a:ea typeface="Merriweather"/>
                <a:cs typeface="Merriweather"/>
                <a:sym typeface="Merriweather"/>
              </a:rPr>
              <a:t> 10+ years of daily historical prices for the S&amp;P 500, NASDAQ, and Dow Jones indices</a:t>
            </a:r>
            <a:endParaRPr>
              <a:latin typeface="Merriweather"/>
              <a:ea typeface="Merriweather"/>
              <a:cs typeface="Merriweather"/>
              <a:sym typeface="Merriweather"/>
            </a:endParaRPr>
          </a:p>
          <a:p>
            <a:pPr indent="-368300" lvl="0" marL="457200" rtl="0" algn="l">
              <a:lnSpc>
                <a:spcPct val="90000"/>
              </a:lnSpc>
              <a:spcBef>
                <a:spcPts val="1000"/>
              </a:spcBef>
              <a:spcAft>
                <a:spcPts val="0"/>
              </a:spcAft>
              <a:buSzPts val="2200"/>
              <a:buFont typeface="Merriweather"/>
              <a:buChar char="●"/>
            </a:pPr>
            <a:r>
              <a:rPr lang="en-US">
                <a:latin typeface="Merriweather"/>
                <a:ea typeface="Merriweather"/>
                <a:cs typeface="Merriweather"/>
                <a:sym typeface="Merriweather"/>
              </a:rPr>
              <a:t>We will decode the API response as JSON and convert it into a Pandas DataFrame, organizing columns </a:t>
            </a:r>
            <a:r>
              <a:rPr lang="en-US">
                <a:latin typeface="Merriweather"/>
                <a:ea typeface="Merriweather"/>
                <a:cs typeface="Merriweather"/>
                <a:sym typeface="Merriweather"/>
              </a:rPr>
              <a:t>with </a:t>
            </a:r>
            <a:r>
              <a:rPr i="1" lang="en-US">
                <a:latin typeface="Merriweather"/>
                <a:ea typeface="Merriweather"/>
                <a:cs typeface="Merriweather"/>
                <a:sym typeface="Merriweather"/>
              </a:rPr>
              <a:t>date, open, close, high, low, volume</a:t>
            </a:r>
            <a:endParaRPr>
              <a:latin typeface="Merriweather"/>
              <a:ea typeface="Merriweather"/>
              <a:cs typeface="Merriweather"/>
              <a:sym typeface="Merriweather"/>
            </a:endParaRPr>
          </a:p>
          <a:p>
            <a:pPr indent="-336550" lvl="0" marL="457200" rtl="0" algn="l">
              <a:lnSpc>
                <a:spcPct val="90000"/>
              </a:lnSpc>
              <a:spcBef>
                <a:spcPts val="1000"/>
              </a:spcBef>
              <a:spcAft>
                <a:spcPts val="0"/>
              </a:spcAft>
              <a:buSzPts val="1700"/>
              <a:buFont typeface="Merriweather"/>
              <a:buChar char="●"/>
            </a:pPr>
            <a:r>
              <a:rPr lang="en-US">
                <a:latin typeface="Merriweather"/>
                <a:ea typeface="Merriweather"/>
                <a:cs typeface="Merriweather"/>
                <a:sym typeface="Merriweather"/>
              </a:rPr>
              <a:t>We will then clean the data, handling any missing values or misaligned dates</a:t>
            </a:r>
            <a:endParaRPr>
              <a:latin typeface="Merriweather"/>
              <a:ea typeface="Merriweather"/>
              <a:cs typeface="Merriweather"/>
              <a:sym typeface="Merriweather"/>
            </a:endParaRPr>
          </a:p>
          <a:p>
            <a:pPr indent="-336550" lvl="0" marL="457200" rtl="0" algn="l">
              <a:lnSpc>
                <a:spcPct val="90000"/>
              </a:lnSpc>
              <a:spcBef>
                <a:spcPts val="1000"/>
              </a:spcBef>
              <a:spcAft>
                <a:spcPts val="0"/>
              </a:spcAft>
              <a:buSzPts val="1700"/>
              <a:buFont typeface="Merriweather"/>
              <a:buChar char="●"/>
            </a:pPr>
            <a:r>
              <a:rPr lang="en-US">
                <a:latin typeface="Merriweather"/>
                <a:ea typeface="Merriweather"/>
                <a:cs typeface="Merriweather"/>
                <a:sym typeface="Merriweather"/>
              </a:rPr>
              <a:t>To help with our regression analysis, we plan to calculate daily returns and percent changes for each index in our processing</a:t>
            </a:r>
            <a:endParaRPr>
              <a:latin typeface="Merriweather"/>
              <a:ea typeface="Merriweather"/>
              <a:cs typeface="Merriweather"/>
              <a:sym typeface="Merriweather"/>
            </a:endParaRPr>
          </a:p>
          <a:p>
            <a:pPr indent="-336550" lvl="0" marL="457200" rtl="0" algn="l">
              <a:lnSpc>
                <a:spcPct val="90000"/>
              </a:lnSpc>
              <a:spcBef>
                <a:spcPts val="1000"/>
              </a:spcBef>
              <a:spcAft>
                <a:spcPts val="0"/>
              </a:spcAft>
              <a:buSzPts val="1700"/>
              <a:buFont typeface="Merriweather"/>
              <a:buChar char="●"/>
            </a:pPr>
            <a:r>
              <a:rPr lang="en-US">
                <a:latin typeface="Merriweather"/>
                <a:ea typeface="Merriweather"/>
                <a:cs typeface="Merriweather"/>
                <a:sym typeface="Merriweather"/>
              </a:rPr>
              <a:t>The cleaned dataset will feed into Tableau through a live connection for visualization</a:t>
            </a:r>
            <a:endParaRPr>
              <a:latin typeface="Merriweather"/>
              <a:ea typeface="Merriweather"/>
              <a:cs typeface="Merriweather"/>
              <a:sym typeface="Merriweather"/>
            </a:endParaRPr>
          </a:p>
          <a:p>
            <a:pPr indent="0" lvl="0" marL="0" rtl="0" algn="l">
              <a:lnSpc>
                <a:spcPct val="90000"/>
              </a:lnSpc>
              <a:spcBef>
                <a:spcPts val="1000"/>
              </a:spcBef>
              <a:spcAft>
                <a:spcPts val="0"/>
              </a:spcAft>
              <a:buSzPts val="2200"/>
              <a:buNone/>
            </a:pPr>
            <a:r>
              <a:t/>
            </a:r>
            <a:endParaRPr>
              <a:latin typeface="Merriweather"/>
              <a:ea typeface="Merriweather"/>
              <a:cs typeface="Merriweather"/>
              <a:sym typeface="Merriweather"/>
            </a:endParaRPr>
          </a:p>
        </p:txBody>
      </p:sp>
      <p:sp>
        <p:nvSpPr>
          <p:cNvPr id="260" name="Google Shape;260;p2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rmAutofit lnSpcReduction="10000"/>
          </a:bodyPr>
          <a:lstStyle/>
          <a:p>
            <a:pPr indent="0" lvl="0" marL="0" rtl="0" algn="l">
              <a:spcBef>
                <a:spcPts val="0"/>
              </a:spcBef>
              <a:spcAft>
                <a:spcPts val="0"/>
              </a:spcAft>
              <a:buClr>
                <a:srgbClr val="000000"/>
              </a:buClr>
              <a:buFont typeface="Arial"/>
              <a:buNone/>
            </a:pPr>
            <a:fld id="{00000000-1234-1234-1234-123412341234}" type="slidenum">
              <a:rPr lang="en-US" sz="1300">
                <a:solidFill>
                  <a:schemeClr val="dk2"/>
                </a:solidFill>
                <a:latin typeface="Roboto"/>
                <a:ea typeface="Roboto"/>
                <a:cs typeface="Roboto"/>
                <a:sym typeface="Roboto"/>
              </a:rPr>
              <a:t>‹#›</a:t>
            </a:fld>
            <a:endParaRPr sz="13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cxnSp>
        <p:nvCxnSpPr>
          <p:cNvPr id="265" name="Google Shape;265;p30"/>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66" name="Google Shape;266;p30"/>
          <p:cNvSpPr txBox="1"/>
          <p:nvPr/>
        </p:nvSpPr>
        <p:spPr>
          <a:xfrm>
            <a:off x="1024129" y="585216"/>
            <a:ext cx="4431792" cy="1499616"/>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0C0C0C"/>
              </a:buClr>
              <a:buSzPts val="5000"/>
              <a:buFont typeface="Twentieth Century"/>
              <a:buNone/>
            </a:pPr>
            <a:r>
              <a:rPr lang="en-US" sz="5000">
                <a:solidFill>
                  <a:srgbClr val="0C0C0C"/>
                </a:solidFill>
                <a:latin typeface="Merriweather"/>
                <a:ea typeface="Merriweather"/>
                <a:cs typeface="Merriweather"/>
                <a:sym typeface="Merriweather"/>
              </a:rPr>
              <a:t>Polygon.io </a:t>
            </a:r>
            <a:r>
              <a:rPr lang="en-US" sz="5000" cap="none">
                <a:solidFill>
                  <a:srgbClr val="0C0C0C"/>
                </a:solidFill>
                <a:latin typeface="Merriweather"/>
                <a:ea typeface="Merriweather"/>
                <a:cs typeface="Merriweather"/>
                <a:sym typeface="Merriweather"/>
              </a:rPr>
              <a:t>API</a:t>
            </a:r>
            <a:endParaRPr>
              <a:latin typeface="Merriweather"/>
              <a:ea typeface="Merriweather"/>
              <a:cs typeface="Merriweather"/>
              <a:sym typeface="Merriweather"/>
            </a:endParaRPr>
          </a:p>
        </p:txBody>
      </p:sp>
      <p:sp>
        <p:nvSpPr>
          <p:cNvPr id="267" name="Google Shape;267;p30"/>
          <p:cNvSpPr txBox="1"/>
          <p:nvPr>
            <p:ph idx="4294967295" type="body"/>
          </p:nvPr>
        </p:nvSpPr>
        <p:spPr>
          <a:xfrm>
            <a:off x="1024128" y="2286000"/>
            <a:ext cx="4429615" cy="3931920"/>
          </a:xfrm>
          <a:prstGeom prst="rect">
            <a:avLst/>
          </a:prstGeom>
          <a:noFill/>
          <a:ln>
            <a:noFill/>
          </a:ln>
        </p:spPr>
        <p:txBody>
          <a:bodyPr anchorCtr="0" anchor="t" bIns="45700" lIns="45700" spcFirstLastPara="1" rIns="45700" wrap="square" tIns="45700">
            <a:normAutofit/>
          </a:bodyPr>
          <a:lstStyle/>
          <a:p>
            <a:pPr indent="0" lvl="0" marL="0" rtl="0" algn="l">
              <a:lnSpc>
                <a:spcPct val="150000"/>
              </a:lnSpc>
              <a:spcBef>
                <a:spcPts val="1400"/>
              </a:spcBef>
              <a:spcAft>
                <a:spcPts val="0"/>
              </a:spcAft>
              <a:buNone/>
            </a:pPr>
            <a:r>
              <a:rPr lang="en-US" sz="1800">
                <a:latin typeface="Merriweather"/>
                <a:ea typeface="Merriweather"/>
                <a:cs typeface="Merriweather"/>
                <a:sym typeface="Merriweather"/>
              </a:rPr>
              <a:t>Retrieved</a:t>
            </a:r>
            <a:r>
              <a:rPr lang="en-US" sz="1800">
                <a:latin typeface="Merriweather"/>
                <a:ea typeface="Merriweather"/>
                <a:cs typeface="Merriweather"/>
                <a:sym typeface="Merriweather"/>
              </a:rPr>
              <a:t> data using a GET request with Bearer token</a:t>
            </a:r>
            <a:endParaRPr sz="1800">
              <a:latin typeface="Merriweather"/>
              <a:ea typeface="Merriweather"/>
              <a:cs typeface="Merriweather"/>
              <a:sym typeface="Merriweather"/>
            </a:endParaRPr>
          </a:p>
          <a:p>
            <a:pPr indent="0" lvl="0" marL="0" rtl="0" algn="l">
              <a:lnSpc>
                <a:spcPct val="150000"/>
              </a:lnSpc>
              <a:spcBef>
                <a:spcPts val="1400"/>
              </a:spcBef>
              <a:spcAft>
                <a:spcPts val="0"/>
              </a:spcAft>
              <a:buNone/>
            </a:pPr>
            <a:r>
              <a:rPr lang="en-US" sz="1800">
                <a:latin typeface="Merriweather"/>
                <a:ea typeface="Merriweather"/>
                <a:cs typeface="Merriweather"/>
                <a:sym typeface="Merriweather"/>
              </a:rPr>
              <a:t>Shows payout trends across companies</a:t>
            </a:r>
            <a:endParaRPr sz="1800">
              <a:latin typeface="Merriweather"/>
              <a:ea typeface="Merriweather"/>
              <a:cs typeface="Merriweather"/>
              <a:sym typeface="Merriweather"/>
            </a:endParaRPr>
          </a:p>
          <a:p>
            <a:pPr indent="0" lvl="0" marL="0" rtl="0" algn="l">
              <a:lnSpc>
                <a:spcPct val="150000"/>
              </a:lnSpc>
              <a:spcBef>
                <a:spcPts val="1400"/>
              </a:spcBef>
              <a:spcAft>
                <a:spcPts val="0"/>
              </a:spcAft>
              <a:buNone/>
            </a:pPr>
            <a:r>
              <a:rPr lang="en-US" sz="1800">
                <a:latin typeface="Merriweather"/>
                <a:ea typeface="Merriweather"/>
                <a:cs typeface="Merriweather"/>
                <a:sym typeface="Merriweather"/>
              </a:rPr>
              <a:t>Adds context to index performance</a:t>
            </a:r>
            <a:endParaRPr sz="1800">
              <a:latin typeface="Merriweather"/>
              <a:ea typeface="Merriweather"/>
              <a:cs typeface="Merriweather"/>
              <a:sym typeface="Merriweather"/>
            </a:endParaRPr>
          </a:p>
          <a:p>
            <a:pPr indent="0" lvl="0" marL="0" rtl="0" algn="l">
              <a:spcBef>
                <a:spcPts val="1400"/>
              </a:spcBef>
              <a:spcAft>
                <a:spcPts val="0"/>
              </a:spcAft>
              <a:buNone/>
            </a:pPr>
            <a:r>
              <a:t/>
            </a:r>
            <a:endParaRPr sz="1800">
              <a:latin typeface="Merriweather"/>
              <a:ea typeface="Merriweather"/>
              <a:cs typeface="Merriweather"/>
              <a:sym typeface="Merriweather"/>
            </a:endParaRPr>
          </a:p>
        </p:txBody>
      </p:sp>
      <p:sp>
        <p:nvSpPr>
          <p:cNvPr id="268" name="Google Shape;268;p3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rmAutofit lnSpcReduction="10000"/>
          </a:bodyPr>
          <a:lstStyle/>
          <a:p>
            <a:pPr indent="0" lvl="0" marL="0" rtl="0" algn="l">
              <a:spcBef>
                <a:spcPts val="0"/>
              </a:spcBef>
              <a:spcAft>
                <a:spcPts val="0"/>
              </a:spcAft>
              <a:buClr>
                <a:srgbClr val="000000"/>
              </a:buClr>
              <a:buFont typeface="Arial"/>
              <a:buNone/>
            </a:pPr>
            <a:fld id="{00000000-1234-1234-1234-123412341234}" type="slidenum">
              <a:rPr lang="en-US" sz="1300">
                <a:solidFill>
                  <a:schemeClr val="dk2"/>
                </a:solidFill>
                <a:latin typeface="Roboto"/>
                <a:ea typeface="Roboto"/>
                <a:cs typeface="Roboto"/>
                <a:sym typeface="Roboto"/>
              </a:rPr>
              <a:t>‹#›</a:t>
            </a:fld>
            <a:endParaRPr sz="1300">
              <a:solidFill>
                <a:schemeClr val="dk2"/>
              </a:solidFill>
              <a:latin typeface="Roboto"/>
              <a:ea typeface="Roboto"/>
              <a:cs typeface="Roboto"/>
              <a:sym typeface="Roboto"/>
            </a:endParaRPr>
          </a:p>
        </p:txBody>
      </p:sp>
      <p:pic>
        <p:nvPicPr>
          <p:cNvPr id="269" name="Google Shape;269;p30"/>
          <p:cNvPicPr preferRelativeResize="0"/>
          <p:nvPr/>
        </p:nvPicPr>
        <p:blipFill>
          <a:blip r:embed="rId3">
            <a:alphaModFix/>
          </a:blip>
          <a:stretch>
            <a:fillRect/>
          </a:stretch>
        </p:blipFill>
        <p:spPr>
          <a:xfrm>
            <a:off x="5574496" y="786875"/>
            <a:ext cx="6431279" cy="52842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cxnSp>
        <p:nvCxnSpPr>
          <p:cNvPr id="274" name="Google Shape;274;p31"/>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75" name="Google Shape;275;p31"/>
          <p:cNvSpPr txBox="1"/>
          <p:nvPr>
            <p:ph type="title"/>
          </p:nvPr>
        </p:nvSpPr>
        <p:spPr>
          <a:xfrm>
            <a:off x="1024123" y="585225"/>
            <a:ext cx="5268600" cy="14685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000"/>
              <a:buFont typeface="Twentieth Century"/>
              <a:buNone/>
            </a:pPr>
            <a:r>
              <a:rPr lang="en-US"/>
              <a:t>THE DATA MODEL </a:t>
            </a:r>
            <a:endParaRPr/>
          </a:p>
        </p:txBody>
      </p:sp>
      <p:pic>
        <p:nvPicPr>
          <p:cNvPr id="276" name="Google Shape;276;p31" title="Blank diagram (2).png"/>
          <p:cNvPicPr preferRelativeResize="0"/>
          <p:nvPr/>
        </p:nvPicPr>
        <p:blipFill rotWithShape="1">
          <a:blip r:embed="rId3">
            <a:alphaModFix/>
          </a:blip>
          <a:srcRect b="5642" l="2693" r="17139" t="9251"/>
          <a:stretch/>
        </p:blipFill>
        <p:spPr>
          <a:xfrm>
            <a:off x="1024125" y="1740725"/>
            <a:ext cx="8661100" cy="4516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32"/>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82" name="Google Shape;282;p32"/>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83" name="Google Shape;283;p32"/>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84" name="Google Shape;284;p32"/>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85" name="Google Shape;285;p32"/>
          <p:cNvSpPr/>
          <p:nvPr/>
        </p:nvSpPr>
        <p:spPr>
          <a:xfrm>
            <a:off x="505464" y="484632"/>
            <a:ext cx="7453538"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
        <p:nvSpPr>
          <p:cNvPr id="286" name="Google Shape;286;p32"/>
          <p:cNvSpPr txBox="1"/>
          <p:nvPr>
            <p:ph type="title"/>
          </p:nvPr>
        </p:nvSpPr>
        <p:spPr>
          <a:xfrm>
            <a:off x="990096" y="977900"/>
            <a:ext cx="6539558" cy="3327734"/>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400"/>
              <a:buFont typeface="Twentieth Century"/>
              <a:buNone/>
            </a:pPr>
            <a:r>
              <a:rPr lang="en-US" sz="5400"/>
              <a:t>BUSINESS INTELLIGENCE</a:t>
            </a:r>
            <a:endParaRPr/>
          </a:p>
        </p:txBody>
      </p:sp>
      <p:cxnSp>
        <p:nvCxnSpPr>
          <p:cNvPr id="287" name="Google Shape;287;p32"/>
          <p:cNvCxnSpPr/>
          <p:nvPr/>
        </p:nvCxnSpPr>
        <p:spPr>
          <a:xfrm>
            <a:off x="2158680" y="4476657"/>
            <a:ext cx="5370974" cy="0"/>
          </a:xfrm>
          <a:prstGeom prst="straightConnector1">
            <a:avLst/>
          </a:prstGeom>
          <a:noFill/>
          <a:ln cap="flat" cmpd="sng" w="19050">
            <a:solidFill>
              <a:srgbClr val="1482AB"/>
            </a:solidFill>
            <a:prstDash val="solid"/>
            <a:round/>
            <a:headEnd len="sm" w="sm" type="none"/>
            <a:tailEnd len="sm" w="sm" type="none"/>
          </a:ln>
        </p:spPr>
      </p:cxnSp>
      <p:sp>
        <p:nvSpPr>
          <p:cNvPr id="288" name="Google Shape;288;p32"/>
          <p:cNvSpPr/>
          <p:nvPr/>
        </p:nvSpPr>
        <p:spPr>
          <a:xfrm>
            <a:off x="8119870" y="484632"/>
            <a:ext cx="3584224"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86"/>
                                        </p:tgtEl>
                                        <p:attrNameLst>
                                          <p:attrName>style.visibility</p:attrName>
                                        </p:attrNameLst>
                                      </p:cBhvr>
                                      <p:to>
                                        <p:strVal val="visible"/>
                                      </p:to>
                                    </p:set>
                                    <p:animEffect filter="fade" transition="in">
                                      <p:cBhvr>
                                        <p:cTn dur="4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33"/>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94" name="Google Shape;294;p33"/>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95" name="Google Shape;295;p33"/>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96" name="Google Shape;296;p3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97" name="Google Shape;297;p33"/>
          <p:cNvSpPr/>
          <p:nvPr/>
        </p:nvSpPr>
        <p:spPr>
          <a:xfrm>
            <a:off x="484632" y="486184"/>
            <a:ext cx="3248522" cy="5885632"/>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98" name="Google Shape;298;p33"/>
          <p:cNvSpPr txBox="1"/>
          <p:nvPr>
            <p:ph idx="1" type="body"/>
          </p:nvPr>
        </p:nvSpPr>
        <p:spPr>
          <a:xfrm>
            <a:off x="768485" y="858475"/>
            <a:ext cx="2629727" cy="514105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200"/>
              </a:spcAft>
              <a:buClr>
                <a:schemeClr val="accent1"/>
              </a:buClr>
              <a:buSzPts val="2400"/>
              <a:buNone/>
            </a:pPr>
            <a:r>
              <a:rPr lang="en-US" sz="2400">
                <a:solidFill>
                  <a:schemeClr val="lt1"/>
                </a:solidFill>
              </a:rPr>
              <a:t>Business Intelligence Dashboard</a:t>
            </a:r>
            <a:endParaRPr/>
          </a:p>
        </p:txBody>
      </p:sp>
      <p:sp>
        <p:nvSpPr>
          <p:cNvPr id="299" name="Google Shape;299;p33"/>
          <p:cNvSpPr/>
          <p:nvPr/>
        </p:nvSpPr>
        <p:spPr>
          <a:xfrm>
            <a:off x="3897745" y="486184"/>
            <a:ext cx="7794722" cy="5885631"/>
          </a:xfrm>
          <a:prstGeom prst="rect">
            <a:avLst/>
          </a:prstGeom>
          <a:solidFill>
            <a:schemeClr val="accent1">
              <a:alpha val="6862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00" name="Google Shape;300;p33"/>
          <p:cNvSpPr txBox="1"/>
          <p:nvPr>
            <p:ph type="title"/>
          </p:nvPr>
        </p:nvSpPr>
        <p:spPr>
          <a:xfrm>
            <a:off x="4299626" y="858475"/>
            <a:ext cx="6984459" cy="51410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52380"/>
              <a:buNone/>
            </a:pPr>
            <a:r>
              <a:rPr lang="en-US" sz="2100">
                <a:solidFill>
                  <a:schemeClr val="lt1"/>
                </a:solidFill>
              </a:rPr>
              <a:t>Our Tableau dashboard will visualize key insights from the Index, DailyPrice, ReturnSeries, ForecastResult, and ModelMetrics tables.</a:t>
            </a:r>
            <a:endParaRPr sz="2100">
              <a:solidFill>
                <a:schemeClr val="lt1"/>
              </a:solidFill>
            </a:endParaRPr>
          </a:p>
          <a:p>
            <a:pPr indent="0" lvl="0" marL="0" rtl="0" algn="l">
              <a:lnSpc>
                <a:spcPct val="100000"/>
              </a:lnSpc>
              <a:spcBef>
                <a:spcPts val="0"/>
              </a:spcBef>
              <a:spcAft>
                <a:spcPts val="0"/>
              </a:spcAft>
              <a:buSzPct val="52380"/>
              <a:buNone/>
            </a:pPr>
            <a:r>
              <a:rPr lang="en-US" sz="2100">
                <a:solidFill>
                  <a:schemeClr val="lt1"/>
                </a:solidFill>
              </a:rPr>
              <a:t>Each worksheet will connect to our PostgreSQL database for live analysis</a:t>
            </a:r>
            <a:endParaRPr sz="2100">
              <a:solidFill>
                <a:schemeClr val="lt1"/>
              </a:solidFill>
            </a:endParaRPr>
          </a:p>
          <a:p>
            <a:pPr indent="0" lvl="0" marL="0" rtl="0" algn="l">
              <a:lnSpc>
                <a:spcPct val="100000"/>
              </a:lnSpc>
              <a:spcBef>
                <a:spcPts val="0"/>
              </a:spcBef>
              <a:spcAft>
                <a:spcPts val="0"/>
              </a:spcAft>
              <a:buNone/>
            </a:pPr>
            <a:r>
              <a:rPr lang="en-US" sz="2100">
                <a:solidFill>
                  <a:schemeClr val="lt1"/>
                </a:solidFill>
              </a:rPr>
              <a:t>We will fill the dashboard with:</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Historical Data (DailyPrice): Used to model actual performance trend lines</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Predicted Data (ForecastResult): For Forecasted Growth and Actual vs Predicted comparisons</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Derived Metrics (Return Series):  To model stability vs risk</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Model Metrics (ModelMetric): To power KPI tiles showing R</a:t>
            </a:r>
            <a:r>
              <a:rPr baseline="30000" lang="en-US" sz="2100">
                <a:solidFill>
                  <a:schemeClr val="lt1"/>
                </a:solidFill>
              </a:rPr>
              <a:t>2</a:t>
            </a:r>
            <a:r>
              <a:rPr lang="en-US" sz="2100">
                <a:solidFill>
                  <a:schemeClr val="lt1"/>
                </a:solidFill>
              </a:rPr>
              <a:t> and RMSE per index to measure model accuracy</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Filters (Index): Allow dynamic switching between indices</a:t>
            </a:r>
            <a:endParaRPr sz="2100">
              <a:solidFill>
                <a:schemeClr val="lt1"/>
              </a:solidFill>
            </a:endParaRPr>
          </a:p>
        </p:txBody>
      </p:sp>
      <p:sp>
        <p:nvSpPr>
          <p:cNvPr id="301" name="Google Shape;301;p33"/>
          <p:cNvSpPr txBox="1"/>
          <p:nvPr/>
        </p:nvSpPr>
        <p:spPr>
          <a:xfrm>
            <a:off x="4073775" y="1436075"/>
            <a:ext cx="6882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00"/>
                                        </p:tgtEl>
                                        <p:attrNameLst>
                                          <p:attrName>style.visibility</p:attrName>
                                        </p:attrNameLst>
                                      </p:cBhvr>
                                      <p:to>
                                        <p:strVal val="visible"/>
                                      </p:to>
                                    </p:set>
                                    <p:animEffect filter="fade" transition="in">
                                      <p:cBhvr>
                                        <p:cTn dur="7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34"/>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07" name="Google Shape;307;p34"/>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308" name="Google Shape;308;p34"/>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309" name="Google Shape;309;p34"/>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0" name="Google Shape;310;p34"/>
          <p:cNvSpPr/>
          <p:nvPr/>
        </p:nvSpPr>
        <p:spPr>
          <a:xfrm>
            <a:off x="505464" y="484632"/>
            <a:ext cx="7453538"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
        <p:nvSpPr>
          <p:cNvPr id="311" name="Google Shape;311;p34"/>
          <p:cNvSpPr txBox="1"/>
          <p:nvPr>
            <p:ph type="title"/>
          </p:nvPr>
        </p:nvSpPr>
        <p:spPr>
          <a:xfrm>
            <a:off x="990096" y="977900"/>
            <a:ext cx="6539558" cy="3327734"/>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400"/>
              <a:buFont typeface="Twentieth Century"/>
              <a:buNone/>
            </a:pPr>
            <a:r>
              <a:rPr lang="en-US" sz="5400"/>
              <a:t>APPLICATION STACK</a:t>
            </a:r>
            <a:endParaRPr/>
          </a:p>
        </p:txBody>
      </p:sp>
      <p:cxnSp>
        <p:nvCxnSpPr>
          <p:cNvPr id="312" name="Google Shape;312;p34"/>
          <p:cNvCxnSpPr/>
          <p:nvPr/>
        </p:nvCxnSpPr>
        <p:spPr>
          <a:xfrm>
            <a:off x="2158680" y="4476657"/>
            <a:ext cx="5370974" cy="0"/>
          </a:xfrm>
          <a:prstGeom prst="straightConnector1">
            <a:avLst/>
          </a:prstGeom>
          <a:noFill/>
          <a:ln cap="flat" cmpd="sng" w="19050">
            <a:solidFill>
              <a:srgbClr val="1482AB"/>
            </a:solidFill>
            <a:prstDash val="solid"/>
            <a:round/>
            <a:headEnd len="sm" w="sm" type="none"/>
            <a:tailEnd len="sm" w="sm" type="none"/>
          </a:ln>
        </p:spPr>
      </p:cxnSp>
      <p:sp>
        <p:nvSpPr>
          <p:cNvPr id="313" name="Google Shape;313;p34"/>
          <p:cNvSpPr/>
          <p:nvPr/>
        </p:nvSpPr>
        <p:spPr>
          <a:xfrm>
            <a:off x="8119870" y="484632"/>
            <a:ext cx="3584224"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11"/>
                                        </p:tgtEl>
                                        <p:attrNameLst>
                                          <p:attrName>style.visibility</p:attrName>
                                        </p:attrNameLst>
                                      </p:cBhvr>
                                      <p:to>
                                        <p:strVal val="visible"/>
                                      </p:to>
                                    </p:set>
                                    <p:animEffect filter="fade" transition="in">
                                      <p:cBhvr>
                                        <p:cTn dur="4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 name="Shape 317"/>
        <p:cNvGrpSpPr/>
        <p:nvPr/>
      </p:nvGrpSpPr>
      <p:grpSpPr>
        <a:xfrm>
          <a:off x="0" y="0"/>
          <a:ext cx="0" cy="0"/>
          <a:chOff x="0" y="0"/>
          <a:chExt cx="0" cy="0"/>
        </a:xfrm>
      </p:grpSpPr>
      <p:sp>
        <p:nvSpPr>
          <p:cNvPr id="318" name="Google Shape;318;p5"/>
          <p:cNvSpPr/>
          <p:nvPr/>
        </p:nvSpPr>
        <p:spPr>
          <a:xfrm>
            <a:off x="1055850" y="-50187"/>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19" name="Google Shape;319;p5"/>
          <p:cNvSpPr/>
          <p:nvPr/>
        </p:nvSpPr>
        <p:spPr>
          <a:xfrm>
            <a:off x="0" y="0"/>
            <a:ext cx="2013557" cy="6858000"/>
          </a:xfrm>
          <a:prstGeom prst="rect">
            <a:avLst/>
          </a:prstGeom>
          <a:solidFill>
            <a:srgbClr val="668F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20" name="Google Shape;320;p5"/>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Play"/>
              <a:buNone/>
            </a:pPr>
            <a:r>
              <a:rPr lang="en-US" sz="2600">
                <a:solidFill>
                  <a:srgbClr val="FFFFFF"/>
                </a:solidFill>
                <a:latin typeface="Play"/>
                <a:ea typeface="Play"/>
                <a:cs typeface="Play"/>
                <a:sym typeface="Play"/>
              </a:rPr>
              <a:t>THE STACK</a:t>
            </a:r>
            <a:endParaRPr/>
          </a:p>
        </p:txBody>
      </p:sp>
      <p:pic>
        <p:nvPicPr>
          <p:cNvPr id="321" name="Google Shape;321;p5"/>
          <p:cNvPicPr preferRelativeResize="0"/>
          <p:nvPr/>
        </p:nvPicPr>
        <p:blipFill>
          <a:blip r:embed="rId3">
            <a:alphaModFix/>
          </a:blip>
          <a:stretch>
            <a:fillRect/>
          </a:stretch>
        </p:blipFill>
        <p:spPr>
          <a:xfrm>
            <a:off x="6773700" y="3549100"/>
            <a:ext cx="3308900" cy="3308900"/>
          </a:xfrm>
          <a:prstGeom prst="rect">
            <a:avLst/>
          </a:prstGeom>
          <a:noFill/>
          <a:ln>
            <a:noFill/>
          </a:ln>
        </p:spPr>
      </p:pic>
      <p:pic>
        <p:nvPicPr>
          <p:cNvPr id="322" name="Google Shape;322;p5"/>
          <p:cNvPicPr preferRelativeResize="0"/>
          <p:nvPr/>
        </p:nvPicPr>
        <p:blipFill>
          <a:blip r:embed="rId4">
            <a:alphaModFix/>
          </a:blip>
          <a:stretch>
            <a:fillRect/>
          </a:stretch>
        </p:blipFill>
        <p:spPr>
          <a:xfrm>
            <a:off x="7877425" y="337025"/>
            <a:ext cx="4816507" cy="2709274"/>
          </a:xfrm>
          <a:prstGeom prst="rect">
            <a:avLst/>
          </a:prstGeom>
          <a:noFill/>
          <a:ln>
            <a:noFill/>
          </a:ln>
        </p:spPr>
      </p:pic>
      <p:pic>
        <p:nvPicPr>
          <p:cNvPr id="323" name="Google Shape;323;p5"/>
          <p:cNvPicPr preferRelativeResize="0"/>
          <p:nvPr/>
        </p:nvPicPr>
        <p:blipFill>
          <a:blip r:embed="rId5">
            <a:alphaModFix/>
          </a:blip>
          <a:stretch>
            <a:fillRect/>
          </a:stretch>
        </p:blipFill>
        <p:spPr>
          <a:xfrm>
            <a:off x="7877425" y="3178200"/>
            <a:ext cx="3308899" cy="1339075"/>
          </a:xfrm>
          <a:prstGeom prst="rect">
            <a:avLst/>
          </a:prstGeom>
          <a:solidFill>
            <a:srgbClr val="FFFFFF"/>
          </a:solidFill>
          <a:ln>
            <a:noFill/>
          </a:ln>
        </p:spPr>
      </p:pic>
      <p:pic>
        <p:nvPicPr>
          <p:cNvPr id="324" name="Google Shape;324;p5"/>
          <p:cNvPicPr preferRelativeResize="0"/>
          <p:nvPr/>
        </p:nvPicPr>
        <p:blipFill>
          <a:blip r:embed="rId6">
            <a:alphaModFix/>
          </a:blip>
          <a:stretch>
            <a:fillRect/>
          </a:stretch>
        </p:blipFill>
        <p:spPr>
          <a:xfrm>
            <a:off x="3581575" y="4623125"/>
            <a:ext cx="2817324" cy="1521350"/>
          </a:xfrm>
          <a:prstGeom prst="rect">
            <a:avLst/>
          </a:prstGeom>
          <a:solidFill>
            <a:srgbClr val="FFFFFF"/>
          </a:solidFill>
          <a:ln>
            <a:noFill/>
          </a:ln>
        </p:spPr>
      </p:pic>
      <p:sp>
        <p:nvSpPr>
          <p:cNvPr id="325" name="Google Shape;325;p5"/>
          <p:cNvSpPr txBox="1"/>
          <p:nvPr/>
        </p:nvSpPr>
        <p:spPr>
          <a:xfrm>
            <a:off x="3828738" y="856325"/>
            <a:ext cx="4534500" cy="41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Data Source: Polygon.io</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Processing: Python (Pandas (cleaning), scikit-learn (regression))</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Storage: </a:t>
            </a:r>
            <a:r>
              <a:rPr lang="en-US" sz="2200">
                <a:solidFill>
                  <a:schemeClr val="dk1"/>
                </a:solidFill>
                <a:latin typeface="Merriweather"/>
                <a:ea typeface="Merriweather"/>
                <a:cs typeface="Merriweather"/>
                <a:sym typeface="Merriweather"/>
              </a:rPr>
              <a:t>PostgreSQL</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Visualization: Tableau</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p7"/>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31" name="Google Shape;331;p7"/>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332" name="Google Shape;332;p7"/>
          <p:cNvSpPr/>
          <p:nvPr/>
        </p:nvSpPr>
        <p:spPr>
          <a:xfrm>
            <a:off x="0" y="0"/>
            <a:ext cx="12192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33" name="Google Shape;333;p7"/>
          <p:cNvSpPr/>
          <p:nvPr/>
        </p:nvSpPr>
        <p:spPr>
          <a:xfrm>
            <a:off x="2815929" y="148929"/>
            <a:ext cx="6560142" cy="656014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34" name="Google Shape;334;p7"/>
          <p:cNvSpPr txBox="1"/>
          <p:nvPr>
            <p:ph type="title"/>
          </p:nvPr>
        </p:nvSpPr>
        <p:spPr>
          <a:xfrm>
            <a:off x="3315031" y="1380754"/>
            <a:ext cx="5561938" cy="251351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sz="6000">
                <a:solidFill>
                  <a:schemeClr val="dk1"/>
                </a:solidFill>
                <a:latin typeface="Play"/>
                <a:ea typeface="Play"/>
                <a:cs typeface="Play"/>
                <a:sym typeface="Play"/>
              </a:rPr>
              <a:t>Q&amp;A</a:t>
            </a:r>
            <a:endParaRPr/>
          </a:p>
        </p:txBody>
      </p:sp>
      <p:sp>
        <p:nvSpPr>
          <p:cNvPr id="335" name="Google Shape;335;p7"/>
          <p:cNvSpPr/>
          <p:nvPr/>
        </p:nvSpPr>
        <p:spPr>
          <a:xfrm flipH="1" rot="-1577571">
            <a:off x="2494119" y="6170"/>
            <a:ext cx="6816262" cy="6816262"/>
          </a:xfrm>
          <a:prstGeom prst="arc">
            <a:avLst>
              <a:gd fmla="val 16200000" name="adj1"/>
              <a:gd fmla="val 20093138" name="adj2"/>
            </a:avLst>
          </a:prstGeom>
          <a:noFill/>
          <a:ln cap="rnd" cmpd="sng" w="127000">
            <a:solidFill>
              <a:schemeClr val="accent4">
                <a:alpha val="94509"/>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336" name="Google Shape;336;p7"/>
          <p:cNvSpPr/>
          <p:nvPr/>
        </p:nvSpPr>
        <p:spPr>
          <a:xfrm>
            <a:off x="8200995" y="5310973"/>
            <a:ext cx="705948" cy="686798"/>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2024-02-20T13:08:53Z</dcterms:created>
  <dc:creator>Sheng-Min Chen</dc:creator>
</cp:coreProperties>
</file>